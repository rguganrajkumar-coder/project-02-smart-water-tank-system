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64" r:id="rId14"/>
    <p:sldId id="265" r:id="rId15"/>
    <p:sldId id="266" r:id="rId16"/>
    <p:sldId id="267" r:id="rId17"/>
    <p:sldId id="272" r:id="rId18"/>
    <p:sldId id="273" r:id="rId19"/>
    <p:sldId id="274" r:id="rId20"/>
    <p:sldId id="275" r:id="rId21"/>
  </p:sldIdLst>
  <p:sldSz cx="18288000" cy="10287000"/>
  <p:notesSz cx="6858000" cy="9144000"/>
  <p:embeddedFontLst>
    <p:embeddedFont>
      <p:font typeface="Arial MT Pro Bold" panose="020B0604020202020204" charset="0"/>
      <p:regular r:id="rId23"/>
    </p:embeddedFont>
    <p:embeddedFont>
      <p:font typeface="Calibri (MS)" panose="020B0604020202020204" charset="0"/>
      <p:regular r:id="rId24"/>
    </p:embeddedFont>
    <p:embeddedFont>
      <p:font typeface="Calibri (M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99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248D1-812F-6716-5C4B-000A9BE2B3C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C51453-E9E2-798B-60EE-D892BAF0B75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59BBA33-C0D1-7A92-503A-EB4F9E2577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8A0DBDC-31FC-783B-1F76-EBA60042DAC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F0F481B-7208-56DA-1D8B-96339F02C16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8</a:t>
            </a:r>
          </a:p>
        </p:txBody>
      </p:sp>
      <p:sp>
        <p:nvSpPr>
          <p:cNvPr id="6" name="Footer Placeholder 5">
            <a:extLst>
              <a:ext uri="{FF2B5EF4-FFF2-40B4-BE49-F238E27FC236}">
                <a16:creationId xmlns:a16="http://schemas.microsoft.com/office/drawing/2014/main" id="{6BE184F0-584D-987F-9EC8-0278B1A4B27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789DE9A-F71C-7618-2489-B89F08D558D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31834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B4F47-DE32-0FED-308D-28156FFD320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4B48F6-9915-29A4-D845-7E176B6F579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483AA15-25D2-B65F-102B-C512910C0BB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A6664A1-03EE-3E0A-3E03-031970CE64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9C35D5A-5667-2ECA-9183-CCB4F796465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8</a:t>
            </a:r>
          </a:p>
        </p:txBody>
      </p:sp>
      <p:sp>
        <p:nvSpPr>
          <p:cNvPr id="6" name="Footer Placeholder 5">
            <a:extLst>
              <a:ext uri="{FF2B5EF4-FFF2-40B4-BE49-F238E27FC236}">
                <a16:creationId xmlns:a16="http://schemas.microsoft.com/office/drawing/2014/main" id="{25454BAE-7E42-8935-BF05-5E581480BFC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FBEF45C-59D9-DB65-F6E2-81F11B9DA2B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22729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B834E-21CF-24C1-D255-C3EFFC4E40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35C211-135B-D9A5-6E89-7CEA0F65D9F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41C4190-F98D-AAD7-D777-09011DF3B9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1957DBD-C95C-485D-C5C5-15C79726A16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04049F0-33DF-F5C4-9008-F1571C453A8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8</a:t>
            </a:r>
          </a:p>
        </p:txBody>
      </p:sp>
      <p:sp>
        <p:nvSpPr>
          <p:cNvPr id="6" name="Footer Placeholder 5">
            <a:extLst>
              <a:ext uri="{FF2B5EF4-FFF2-40B4-BE49-F238E27FC236}">
                <a16:creationId xmlns:a16="http://schemas.microsoft.com/office/drawing/2014/main" id="{24D7C1D3-F11E-1B5B-48E0-1FE25AA66D3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5F2A211-BAA5-F6EB-AC01-4806C10C304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343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B6557-9FCA-FD39-A585-A009EE4CD29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58A862-25A5-6F45-A350-DE3AE990066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E81CB31-D98A-E239-5152-3B1ACC0279A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56D43A9-B51E-8512-DF7F-9146D47D2D4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6EC4563-B47C-9070-48F8-52F8655A5AA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8</a:t>
            </a:r>
          </a:p>
        </p:txBody>
      </p:sp>
      <p:sp>
        <p:nvSpPr>
          <p:cNvPr id="6" name="Footer Placeholder 5">
            <a:extLst>
              <a:ext uri="{FF2B5EF4-FFF2-40B4-BE49-F238E27FC236}">
                <a16:creationId xmlns:a16="http://schemas.microsoft.com/office/drawing/2014/main" id="{72AE107B-FADE-390F-4E6B-AEB284364D8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B07D060-AE7B-1563-8432-CC964A635D0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63649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54821-0727-158F-3343-7E2FA8C4C90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80FE23-3CCC-6875-D339-E22790BECB0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76C5F2C-028C-D9A1-743A-FF4E8786643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2AD5402-879E-A06B-66FB-0CD5919CB5C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E8BE834-5309-D8DC-9AFA-A4B6CC52539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a:extLst>
              <a:ext uri="{FF2B5EF4-FFF2-40B4-BE49-F238E27FC236}">
                <a16:creationId xmlns:a16="http://schemas.microsoft.com/office/drawing/2014/main" id="{740EBD3C-9B09-D0C5-0ECC-5D7927A52F6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67C9B5F-B452-0CAF-AB29-6B5171AFB18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34634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7B30-08C4-0ED7-3527-91D9A5161F5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87987E-BDFC-38D1-FD52-7815E0154A5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77BF5D7-4B6B-8567-7352-BA484B15964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6546ECE-C8A3-3946-41ED-8A132E3A188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DFD5608-DFFE-E47D-31B1-0B50467C656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10</a:t>
            </a:r>
          </a:p>
        </p:txBody>
      </p:sp>
      <p:sp>
        <p:nvSpPr>
          <p:cNvPr id="6" name="Footer Placeholder 5">
            <a:extLst>
              <a:ext uri="{FF2B5EF4-FFF2-40B4-BE49-F238E27FC236}">
                <a16:creationId xmlns:a16="http://schemas.microsoft.com/office/drawing/2014/main" id="{85D7B73D-1D90-9003-4EBF-AF59917D6CE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82256EE-85EB-11AD-95FF-CAFFEA8C976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25164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CF98-98A8-BFE5-07F8-E69F798E3F4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45A7D7-1926-04E5-DB8C-586EE72FF1D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56C1152-6247-A874-1186-C1985BCC740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0C6A23E-03C6-D7D1-10D0-88077EB9FAB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5FA8BBC-F1AF-81EE-6E0A-09B4D707C13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10</a:t>
            </a:r>
          </a:p>
        </p:txBody>
      </p:sp>
      <p:sp>
        <p:nvSpPr>
          <p:cNvPr id="6" name="Footer Placeholder 5">
            <a:extLst>
              <a:ext uri="{FF2B5EF4-FFF2-40B4-BE49-F238E27FC236}">
                <a16:creationId xmlns:a16="http://schemas.microsoft.com/office/drawing/2014/main" id="{4B641551-D90C-7802-19A9-C840500D3C1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D108D0E-42AC-D32C-3592-CFF23FDB888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46646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00B7D-CF2B-1838-B1A6-0CED0FBEA08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8E6FC6-FF26-AE36-7E50-185C676E2B5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A8797C4-1252-6C37-CC75-DDF34E62FD5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BE81090-A65F-7329-ADFE-42258E89F5E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AB5CD09-78F6-EAEB-6D21-2E73BEDD901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10</a:t>
            </a:r>
          </a:p>
        </p:txBody>
      </p:sp>
      <p:sp>
        <p:nvSpPr>
          <p:cNvPr id="6" name="Footer Placeholder 5">
            <a:extLst>
              <a:ext uri="{FF2B5EF4-FFF2-40B4-BE49-F238E27FC236}">
                <a16:creationId xmlns:a16="http://schemas.microsoft.com/office/drawing/2014/main" id="{69603CC8-937E-48BA-F0B5-56AAD728EA4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64B3CE1-3988-F9D5-2B01-4446C64B9F3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08450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47775" y="450057"/>
            <a:ext cx="1600200" cy="1585912"/>
          </a:xfrm>
          <a:custGeom>
            <a:avLst/>
            <a:gdLst/>
            <a:ahLst/>
            <a:cxnLst/>
            <a:rect l="l" t="t" r="r" b="b"/>
            <a:pathLst>
              <a:path w="1600200" h="1585912">
                <a:moveTo>
                  <a:pt x="0" y="0"/>
                </a:moveTo>
                <a:lnTo>
                  <a:pt x="1600200" y="0"/>
                </a:lnTo>
                <a:lnTo>
                  <a:pt x="1600200" y="1585912"/>
                </a:lnTo>
                <a:lnTo>
                  <a:pt x="0" y="1585912"/>
                </a:lnTo>
                <a:lnTo>
                  <a:pt x="0" y="0"/>
                </a:lnTo>
                <a:close/>
              </a:path>
            </a:pathLst>
          </a:custGeom>
          <a:blipFill>
            <a:blip r:embed="rId3"/>
            <a:stretch>
              <a:fillRect b="-115"/>
            </a:stretch>
          </a:blipFill>
        </p:spPr>
      </p:sp>
      <p:grpSp>
        <p:nvGrpSpPr>
          <p:cNvPr id="3" name="Group 3"/>
          <p:cNvGrpSpPr/>
          <p:nvPr/>
        </p:nvGrpSpPr>
        <p:grpSpPr>
          <a:xfrm>
            <a:off x="2847975" y="321469"/>
            <a:ext cx="12656344" cy="4521993"/>
            <a:chOff x="120000" y="60000"/>
            <a:chExt cx="16635126" cy="5909324"/>
          </a:xfrm>
        </p:grpSpPr>
        <p:sp>
          <p:nvSpPr>
            <p:cNvPr id="4" name="Freeform 4"/>
            <p:cNvSpPr/>
            <p:nvPr/>
          </p:nvSpPr>
          <p:spPr>
            <a:xfrm>
              <a:off x="-120000" y="-60000"/>
              <a:ext cx="16875126" cy="6029324"/>
            </a:xfrm>
            <a:custGeom>
              <a:avLst/>
              <a:gdLst/>
              <a:ahLst/>
              <a:cxn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5" name="TextBox 5"/>
            <p:cNvSpPr txBox="1"/>
            <p:nvPr/>
          </p:nvSpPr>
          <p:spPr>
            <a:xfrm>
              <a:off x="120000" y="-178125"/>
              <a:ext cx="16635126" cy="6147449"/>
            </a:xfrm>
            <a:prstGeom prst="rect">
              <a:avLst/>
            </a:prstGeom>
          </p:spPr>
          <p:txBody>
            <a:bodyPr lIns="0" tIns="0" rIns="0" bIns="0" rtlCol="0" anchor="t"/>
            <a:lstStyle/>
            <a:p>
              <a:pPr algn="ctr">
                <a:lnSpc>
                  <a:spcPts val="5400"/>
                </a:lnSpc>
              </a:pPr>
              <a:r>
                <a:rPr lang="en-US" sz="3000" b="1" dirty="0">
                  <a:solidFill>
                    <a:srgbClr val="FF0066"/>
                  </a:solidFill>
                  <a:latin typeface="Arial MT Pro Bold"/>
                  <a:ea typeface="Arial MT Pro Bold"/>
                  <a:cs typeface="Arial MT Pro Bold"/>
                  <a:sym typeface="Arial MT Pro Bold"/>
                </a:rPr>
                <a:t>K.RAMAKRISHNAN COLLEGE OF ENGINEERING</a:t>
              </a:r>
            </a:p>
            <a:p>
              <a:pPr algn="ctr">
                <a:lnSpc>
                  <a:spcPts val="5400"/>
                </a:lnSpc>
              </a:pPr>
              <a:r>
                <a:rPr lang="en-US" sz="3000" b="1" dirty="0">
                  <a:solidFill>
                    <a:srgbClr val="FF0066"/>
                  </a:solidFill>
                  <a:latin typeface="Arial MT Pro Bold"/>
                  <a:ea typeface="Arial MT Pro Bold"/>
                  <a:cs typeface="Arial MT Pro Bold"/>
                  <a:sym typeface="Arial MT Pro Bold"/>
                </a:rPr>
                <a:t>(AUTONOMOUS), SAMAYAPURAM - TRICHY</a:t>
              </a:r>
            </a:p>
            <a:p>
              <a:pPr algn="ctr">
                <a:lnSpc>
                  <a:spcPts val="5400"/>
                </a:lnSpc>
              </a:pPr>
              <a:r>
                <a:rPr lang="en-US" sz="3000" b="1" dirty="0">
                  <a:solidFill>
                    <a:srgbClr val="FF0066"/>
                  </a:solidFill>
                  <a:latin typeface="Arial MT Pro Bold"/>
                  <a:ea typeface="Arial MT Pro Bold"/>
                  <a:cs typeface="Arial MT Pro Bold"/>
                  <a:sym typeface="Arial MT Pro Bold"/>
                </a:rPr>
                <a:t>DEPARTMENT OF CSE</a:t>
              </a:r>
            </a:p>
            <a:p>
              <a:pPr algn="ctr">
                <a:lnSpc>
                  <a:spcPts val="5400"/>
                </a:lnSpc>
              </a:pPr>
              <a:r>
                <a:rPr lang="en-US" sz="3000" b="1" dirty="0">
                  <a:solidFill>
                    <a:srgbClr val="FF0066"/>
                  </a:solidFill>
                  <a:latin typeface="Arial MT Pro Bold"/>
                  <a:ea typeface="Arial MT Pro Bold"/>
                  <a:cs typeface="Arial MT Pro Bold"/>
                  <a:sym typeface="Arial MT Pro Bold"/>
                </a:rPr>
                <a:t>CGB1121 – PYTHON PROGRAMMING</a:t>
              </a:r>
            </a:p>
            <a:p>
              <a:pPr algn="ctr">
                <a:lnSpc>
                  <a:spcPts val="3600"/>
                </a:lnSpc>
              </a:pPr>
              <a:endParaRPr lang="en-US" sz="3000" b="1" dirty="0">
                <a:solidFill>
                  <a:srgbClr val="FF0066"/>
                </a:solidFill>
                <a:latin typeface="Arial MT Pro Bold"/>
                <a:ea typeface="Arial MT Pro Bold"/>
                <a:cs typeface="Arial MT Pro Bold"/>
                <a:sym typeface="Arial MT Pro Bold"/>
              </a:endParaRPr>
            </a:p>
            <a:p>
              <a:pPr algn="ctr">
                <a:lnSpc>
                  <a:spcPts val="3600"/>
                </a:lnSpc>
              </a:pPr>
              <a:endParaRPr lang="en-US" sz="3000" b="1" dirty="0">
                <a:solidFill>
                  <a:srgbClr val="FF0066"/>
                </a:solidFill>
                <a:latin typeface="Arial MT Pro Bold"/>
                <a:ea typeface="Arial MT Pro Bold"/>
                <a:cs typeface="Arial MT Pro Bold"/>
                <a:sym typeface="Arial MT Pro Bold"/>
              </a:endParaRPr>
            </a:p>
          </p:txBody>
        </p:sp>
      </p:grpSp>
      <p:sp>
        <p:nvSpPr>
          <p:cNvPr id="6" name="Freeform 6" descr="KRCE Tiruchirappalli : Admission 2024, Courses, Fees, Placement, Cut Off"/>
          <p:cNvSpPr/>
          <p:nvPr/>
        </p:nvSpPr>
        <p:spPr>
          <a:xfrm>
            <a:off x="15516225" y="390525"/>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p:cNvGrpSpPr/>
          <p:nvPr/>
        </p:nvGrpSpPr>
        <p:grpSpPr>
          <a:xfrm>
            <a:off x="530340" y="3859035"/>
            <a:ext cx="17040225" cy="984428"/>
            <a:chOff x="-1169865" y="-60933"/>
            <a:chExt cx="22204898" cy="1175801"/>
          </a:xfrm>
        </p:grpSpPr>
        <p:sp>
          <p:nvSpPr>
            <p:cNvPr id="8" name="Freeform 8"/>
            <p:cNvSpPr/>
            <p:nvPr/>
          </p:nvSpPr>
          <p:spPr>
            <a:xfrm>
              <a:off x="-121900" y="-60933"/>
              <a:ext cx="20108970" cy="1175801"/>
            </a:xfrm>
            <a:custGeom>
              <a:avLst/>
              <a:gdLst/>
              <a:ahLst/>
              <a:cxnLst/>
              <a:rect l="l" t="t" r="r" b="b"/>
              <a:pathLst>
                <a:path w="20108970" h="1175801">
                  <a:moveTo>
                    <a:pt x="0" y="0"/>
                  </a:moveTo>
                  <a:lnTo>
                    <a:pt x="20108970" y="0"/>
                  </a:lnTo>
                  <a:lnTo>
                    <a:pt x="20108970" y="1175801"/>
                  </a:lnTo>
                  <a:lnTo>
                    <a:pt x="0" y="1175801"/>
                  </a:lnTo>
                  <a:close/>
                </a:path>
              </a:pathLst>
            </a:custGeom>
            <a:solidFill>
              <a:srgbClr val="000000">
                <a:alpha val="0"/>
              </a:srgbClr>
            </a:solidFill>
          </p:spPr>
        </p:sp>
        <p:sp>
          <p:nvSpPr>
            <p:cNvPr id="9" name="TextBox 9"/>
            <p:cNvSpPr txBox="1"/>
            <p:nvPr/>
          </p:nvSpPr>
          <p:spPr>
            <a:xfrm>
              <a:off x="-1169865" y="-34317"/>
              <a:ext cx="22204898" cy="1149184"/>
            </a:xfrm>
            <a:prstGeom prst="rect">
              <a:avLst/>
            </a:prstGeom>
          </p:spPr>
          <p:txBody>
            <a:bodyPr lIns="0" tIns="0" rIns="0" bIns="0" rtlCol="0" anchor="t"/>
            <a:lstStyle/>
            <a:p>
              <a:pPr algn="ctr">
                <a:lnSpc>
                  <a:spcPts val="5759"/>
                </a:lnSpc>
              </a:pPr>
              <a:r>
                <a:rPr lang="en-US" sz="4400" b="1" dirty="0">
                  <a:solidFill>
                    <a:schemeClr val="tx2"/>
                  </a:solidFill>
                  <a:latin typeface="Arial MT Pro Bold"/>
                  <a:ea typeface="Arial MT Pro Bold"/>
                  <a:cs typeface="Arial MT Pro Bold"/>
                  <a:sym typeface="Arial MT Pro Bold"/>
                </a:rPr>
                <a:t>WATER TANK LEVEL MONITORING AND USAGE SYSTEM</a:t>
              </a:r>
            </a:p>
          </p:txBody>
        </p:sp>
      </p:grpSp>
      <p:grpSp>
        <p:nvGrpSpPr>
          <p:cNvPr id="10" name="Group 10"/>
          <p:cNvGrpSpPr/>
          <p:nvPr/>
        </p:nvGrpSpPr>
        <p:grpSpPr>
          <a:xfrm>
            <a:off x="914400" y="9561130"/>
            <a:ext cx="4264820" cy="518702"/>
            <a:chOff x="121900" y="60933"/>
            <a:chExt cx="5442626" cy="575682"/>
          </a:xfrm>
        </p:grpSpPr>
        <p:sp>
          <p:nvSpPr>
            <p:cNvPr id="11" name="Freeform 11"/>
            <p:cNvSpPr/>
            <p:nvPr/>
          </p:nvSpPr>
          <p:spPr>
            <a:xfrm>
              <a:off x="-121900" y="-60933"/>
              <a:ext cx="5686426" cy="697549"/>
            </a:xfrm>
            <a:custGeom>
              <a:avLst/>
              <a:gdLst/>
              <a:ahLst/>
              <a:cxnLst/>
              <a:rect l="l" t="t" r="r" b="b"/>
              <a:pathLst>
                <a:path w="5686426" h="697549">
                  <a:moveTo>
                    <a:pt x="0" y="0"/>
                  </a:moveTo>
                  <a:lnTo>
                    <a:pt x="5686426" y="0"/>
                  </a:lnTo>
                  <a:lnTo>
                    <a:pt x="5686426" y="697548"/>
                  </a:lnTo>
                  <a:lnTo>
                    <a:pt x="0" y="697548"/>
                  </a:lnTo>
                  <a:close/>
                </a:path>
              </a:pathLst>
            </a:custGeom>
            <a:solidFill>
              <a:srgbClr val="000000">
                <a:alpha val="0"/>
              </a:srgbClr>
            </a:solidFill>
          </p:spPr>
        </p:sp>
        <p:sp>
          <p:nvSpPr>
            <p:cNvPr id="12" name="TextBox 12"/>
            <p:cNvSpPr txBox="1"/>
            <p:nvPr/>
          </p:nvSpPr>
          <p:spPr>
            <a:xfrm>
              <a:off x="121900" y="3783"/>
              <a:ext cx="5442626" cy="632832"/>
            </a:xfrm>
            <a:prstGeom prst="rect">
              <a:avLst/>
            </a:prstGeom>
          </p:spPr>
          <p:txBody>
            <a:bodyPr lIns="0" tIns="0" rIns="0" bIns="0" rtlCol="0" anchor="ctr"/>
            <a:lstStyle/>
            <a:p>
              <a:pPr algn="l">
                <a:lnSpc>
                  <a:spcPts val="3119"/>
                </a:lnSpc>
              </a:pPr>
              <a:r>
                <a:rPr lang="en-US" sz="2599">
                  <a:solidFill>
                    <a:srgbClr val="8B8B8B"/>
                  </a:solidFill>
                  <a:latin typeface="Calibri (MS)"/>
                  <a:ea typeface="Calibri (MS)"/>
                  <a:cs typeface="Calibri (MS)"/>
                  <a:sym typeface="Calibri (MS)"/>
                </a:rPr>
                <a:t>06/03/2025</a:t>
              </a:r>
            </a:p>
          </p:txBody>
        </p:sp>
      </p:grpSp>
      <p:sp>
        <p:nvSpPr>
          <p:cNvPr id="13" name="TextBox 13"/>
          <p:cNvSpPr txBox="1"/>
          <p:nvPr/>
        </p:nvSpPr>
        <p:spPr>
          <a:xfrm>
            <a:off x="10803641" y="6772275"/>
            <a:ext cx="6455659" cy="2564805"/>
          </a:xfrm>
          <a:prstGeom prst="rect">
            <a:avLst/>
          </a:prstGeom>
        </p:spPr>
        <p:txBody>
          <a:bodyPr lIns="0" tIns="0" rIns="0" bIns="0" rtlCol="0" anchor="t">
            <a:spAutoFit/>
          </a:bodyPr>
          <a:lstStyle/>
          <a:p>
            <a:pPr algn="ctr">
              <a:lnSpc>
                <a:spcPts val="5039"/>
              </a:lnSpc>
            </a:pPr>
            <a:r>
              <a:rPr lang="en-US" sz="4199" b="1" dirty="0">
                <a:solidFill>
                  <a:srgbClr val="FF0000"/>
                </a:solidFill>
                <a:latin typeface="Calibri (MS) Bold"/>
                <a:ea typeface="Calibri (MS) Bold"/>
                <a:cs typeface="Calibri (MS) Bold"/>
                <a:sym typeface="Calibri (MS) Bold"/>
              </a:rPr>
              <a:t>SUPERVISOR :</a:t>
            </a:r>
          </a:p>
          <a:p>
            <a:pPr algn="ctr">
              <a:lnSpc>
                <a:spcPts val="5039"/>
              </a:lnSpc>
            </a:pPr>
            <a:endParaRPr lang="en-US" sz="4199" b="1" dirty="0">
              <a:solidFill>
                <a:srgbClr val="FF0000"/>
              </a:solidFill>
              <a:latin typeface="Calibri (MS) Bold"/>
              <a:ea typeface="Calibri (MS) Bold"/>
              <a:cs typeface="Calibri (MS) Bold"/>
              <a:sym typeface="Calibri (MS) Bold"/>
            </a:endParaRPr>
          </a:p>
          <a:p>
            <a:pPr algn="ctr">
              <a:lnSpc>
                <a:spcPts val="5039"/>
              </a:lnSpc>
            </a:pPr>
            <a:r>
              <a:rPr lang="en-US" sz="4199" b="1" dirty="0" err="1">
                <a:solidFill>
                  <a:srgbClr val="000000"/>
                </a:solidFill>
                <a:latin typeface="Calibri (MS) Bold"/>
                <a:ea typeface="Calibri (MS) Bold"/>
                <a:cs typeface="Calibri (MS) Bold"/>
                <a:sym typeface="Calibri (MS) Bold"/>
              </a:rPr>
              <a:t>Mr.R.Indradevi</a:t>
            </a:r>
            <a:endParaRPr lang="en-US" sz="4199" b="1" dirty="0">
              <a:solidFill>
                <a:srgbClr val="000000"/>
              </a:solidFill>
              <a:latin typeface="Calibri (MS) Bold"/>
              <a:ea typeface="Calibri (MS) Bold"/>
              <a:cs typeface="Calibri (MS) Bold"/>
              <a:sym typeface="Calibri (MS) Bold"/>
            </a:endParaRPr>
          </a:p>
          <a:p>
            <a:pPr algn="ctr">
              <a:lnSpc>
                <a:spcPts val="5039"/>
              </a:lnSpc>
              <a:spcBef>
                <a:spcPct val="0"/>
              </a:spcBef>
            </a:pPr>
            <a:r>
              <a:rPr lang="en-US" sz="4199" b="1" dirty="0">
                <a:solidFill>
                  <a:srgbClr val="000000"/>
                </a:solidFill>
                <a:latin typeface="Calibri (MS) Bold"/>
                <a:ea typeface="Calibri (MS) Bold"/>
                <a:cs typeface="Calibri (MS) Bold"/>
                <a:sym typeface="Calibri (MS) Bold"/>
              </a:rPr>
              <a:t>Assistant Professor/CSE.</a:t>
            </a:r>
          </a:p>
        </p:txBody>
      </p:sp>
      <p:sp>
        <p:nvSpPr>
          <p:cNvPr id="14" name="TextBox 14"/>
          <p:cNvSpPr txBox="1"/>
          <p:nvPr/>
        </p:nvSpPr>
        <p:spPr>
          <a:xfrm>
            <a:off x="-560751" y="6772275"/>
            <a:ext cx="7215122" cy="2443746"/>
          </a:xfrm>
          <a:prstGeom prst="rect">
            <a:avLst/>
          </a:prstGeom>
        </p:spPr>
        <p:txBody>
          <a:bodyPr lIns="0" tIns="0" rIns="0" bIns="0" rtlCol="0" anchor="t">
            <a:spAutoFit/>
          </a:bodyPr>
          <a:lstStyle/>
          <a:p>
            <a:pPr algn="ctr">
              <a:lnSpc>
                <a:spcPts val="4799"/>
              </a:lnSpc>
            </a:pPr>
            <a:r>
              <a:rPr lang="en-US" sz="3999" b="1" dirty="0">
                <a:solidFill>
                  <a:srgbClr val="FF0000"/>
                </a:solidFill>
                <a:latin typeface="Calibri (MS) Bold"/>
                <a:ea typeface="Calibri (MS) Bold"/>
                <a:cs typeface="Calibri (MS) Bold"/>
                <a:sym typeface="Calibri (MS) Bold"/>
              </a:rPr>
              <a:t>PRESENTED BY :</a:t>
            </a:r>
          </a:p>
          <a:p>
            <a:pPr algn="ctr">
              <a:lnSpc>
                <a:spcPts val="4799"/>
              </a:lnSpc>
            </a:pPr>
            <a:endParaRPr lang="en-US" sz="3999" b="1" dirty="0">
              <a:solidFill>
                <a:srgbClr val="FF0000"/>
              </a:solidFill>
              <a:latin typeface="Calibri (MS) Bold"/>
              <a:ea typeface="Calibri (MS) Bold"/>
              <a:cs typeface="Calibri (MS) Bold"/>
              <a:sym typeface="Calibri (MS) Bold"/>
            </a:endParaRPr>
          </a:p>
          <a:p>
            <a:pPr algn="ctr">
              <a:lnSpc>
                <a:spcPts val="4799"/>
              </a:lnSpc>
            </a:pPr>
            <a:r>
              <a:rPr lang="en-US" sz="3999" b="1" dirty="0">
                <a:solidFill>
                  <a:srgbClr val="000000"/>
                </a:solidFill>
                <a:latin typeface="Calibri (MS) Bold"/>
                <a:ea typeface="Calibri (MS) Bold"/>
                <a:cs typeface="Calibri (MS) Bold"/>
                <a:sym typeface="Calibri (MS) Bold"/>
              </a:rPr>
              <a:t>                         GUGANRAJ R</a:t>
            </a:r>
          </a:p>
          <a:p>
            <a:pPr algn="ctr">
              <a:lnSpc>
                <a:spcPts val="4799"/>
              </a:lnSpc>
              <a:spcBef>
                <a:spcPct val="0"/>
              </a:spcBef>
            </a:pPr>
            <a:r>
              <a:rPr lang="en-US" sz="3999" b="1" dirty="0">
                <a:solidFill>
                  <a:srgbClr val="000000"/>
                </a:solidFill>
                <a:latin typeface="Calibri (MS) Bold"/>
                <a:ea typeface="Calibri (MS) Bold"/>
                <a:cs typeface="Calibri (MS) Bold"/>
                <a:sym typeface="Calibri (MS) Bold"/>
              </a:rPr>
              <a:t>                       8115U25CS050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86201" y="-72284"/>
            <a:ext cx="12529999" cy="2198742"/>
            <a:chOff x="-121900" y="-550302"/>
            <a:chExt cx="16459200" cy="2775369"/>
          </a:xfrm>
        </p:grpSpPr>
        <p:sp>
          <p:nvSpPr>
            <p:cNvPr id="3" name="Freeform 3"/>
            <p:cNvSpPr/>
            <p:nvPr/>
          </p:nvSpPr>
          <p:spPr>
            <a:xfrm>
              <a:off x="-121900" y="-60933"/>
              <a:ext cx="16459200" cy="2286000"/>
            </a:xfrm>
            <a:custGeom>
              <a:avLst/>
              <a:gdLst/>
              <a:ahLst/>
              <a:cxnLst/>
              <a:rect l="l" t="t" r="r" b="b"/>
              <a:pathLst>
                <a:path w="16459200" h="2286000">
                  <a:moveTo>
                    <a:pt x="0" y="0"/>
                  </a:moveTo>
                  <a:lnTo>
                    <a:pt x="16459200" y="0"/>
                  </a:lnTo>
                  <a:lnTo>
                    <a:pt x="16459200" y="2286000"/>
                  </a:lnTo>
                  <a:lnTo>
                    <a:pt x="0" y="2286000"/>
                  </a:lnTo>
                  <a:close/>
                </a:path>
              </a:pathLst>
            </a:custGeom>
            <a:solidFill>
              <a:srgbClr val="000000">
                <a:alpha val="0"/>
              </a:srgbClr>
            </a:solidFill>
          </p:spPr>
        </p:sp>
        <p:sp>
          <p:nvSpPr>
            <p:cNvPr id="4" name="TextBox 4"/>
            <p:cNvSpPr txBox="1"/>
            <p:nvPr/>
          </p:nvSpPr>
          <p:spPr>
            <a:xfrm>
              <a:off x="69868" y="-550302"/>
              <a:ext cx="16215400" cy="2259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PRESENTATION OVERVIEW</a:t>
              </a:r>
            </a:p>
          </p:txBody>
        </p:sp>
      </p:grpSp>
      <p:grpSp>
        <p:nvGrpSpPr>
          <p:cNvPr id="5" name="Group 5"/>
          <p:cNvGrpSpPr/>
          <p:nvPr/>
        </p:nvGrpSpPr>
        <p:grpSpPr>
          <a:xfrm>
            <a:off x="5657085" y="1382316"/>
            <a:ext cx="6557251" cy="8256984"/>
            <a:chOff x="-174153" y="-1104759"/>
            <a:chExt cx="8650092" cy="10865686"/>
          </a:xfrm>
        </p:grpSpPr>
        <p:sp>
          <p:nvSpPr>
            <p:cNvPr id="6" name="Freeform 6"/>
            <p:cNvSpPr/>
            <p:nvPr/>
          </p:nvSpPr>
          <p:spPr>
            <a:xfrm>
              <a:off x="-121900" y="-60933"/>
              <a:ext cx="8597839" cy="9341462"/>
            </a:xfrm>
            <a:custGeom>
              <a:avLst/>
              <a:gdLst/>
              <a:ahLst/>
              <a:cxnLst/>
              <a:rect l="l" t="t" r="r" b="b"/>
              <a:pathLst>
                <a:path w="8597839" h="9341462">
                  <a:moveTo>
                    <a:pt x="0" y="0"/>
                  </a:moveTo>
                  <a:lnTo>
                    <a:pt x="8597839" y="0"/>
                  </a:lnTo>
                  <a:lnTo>
                    <a:pt x="8597839" y="9341462"/>
                  </a:lnTo>
                  <a:lnTo>
                    <a:pt x="0" y="9341462"/>
                  </a:lnTo>
                  <a:close/>
                </a:path>
              </a:pathLst>
            </a:custGeom>
            <a:solidFill>
              <a:srgbClr val="000000">
                <a:alpha val="0"/>
              </a:srgbClr>
            </a:solidFill>
          </p:spPr>
        </p:sp>
        <p:sp>
          <p:nvSpPr>
            <p:cNvPr id="7" name="TextBox 7"/>
            <p:cNvSpPr txBox="1"/>
            <p:nvPr/>
          </p:nvSpPr>
          <p:spPr>
            <a:xfrm>
              <a:off x="-174153" y="-1104759"/>
              <a:ext cx="8354039" cy="10865686"/>
            </a:xfrm>
            <a:prstGeom prst="rect">
              <a:avLst/>
            </a:prstGeom>
          </p:spPr>
          <p:txBody>
            <a:bodyPr lIns="0" tIns="0" rIns="0" bIns="0" rtlCol="0" anchor="t"/>
            <a:lstStyle/>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Abstract</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Introduction</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Existing System</a:t>
              </a:r>
            </a:p>
            <a:p>
              <a:pPr marL="898840" lvl="1" indent="-571500" algn="just">
                <a:lnSpc>
                  <a:spcPts val="6479"/>
                </a:lnSpc>
                <a:buFont typeface="Wingdings" panose="05000000000000000000" pitchFamily="2" charset="2"/>
                <a:buChar char="v"/>
              </a:pPr>
              <a:r>
                <a:rPr lang="en-US" sz="3599" b="1" dirty="0" err="1">
                  <a:solidFill>
                    <a:srgbClr val="000000"/>
                  </a:solidFill>
                  <a:latin typeface="Arial MT Pro Bold"/>
                  <a:ea typeface="Arial MT Pro Bold"/>
                  <a:cs typeface="Arial MT Pro Bold"/>
                  <a:sym typeface="Arial MT Pro Bold"/>
                </a:rPr>
                <a:t>Prposed</a:t>
              </a:r>
              <a:r>
                <a:rPr lang="en-US" sz="3599" b="1" dirty="0">
                  <a:solidFill>
                    <a:srgbClr val="000000"/>
                  </a:solidFill>
                  <a:latin typeface="Arial MT Pro Bold"/>
                  <a:ea typeface="Arial MT Pro Bold"/>
                  <a:cs typeface="Arial MT Pro Bold"/>
                  <a:sym typeface="Arial MT Pro Bold"/>
                </a:rPr>
                <a:t> System</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Modules</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Modules Description</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Architecture Diagram</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Data Flow Diagram(DFD)</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Conclusion</a:t>
              </a:r>
            </a:p>
            <a:p>
              <a:pPr marL="898840" lvl="1" indent="-571500" algn="just">
                <a:lnSpc>
                  <a:spcPts val="6479"/>
                </a:lnSpc>
                <a:buFont typeface="Wingdings" panose="05000000000000000000" pitchFamily="2" charset="2"/>
                <a:buChar char="v"/>
              </a:pPr>
              <a:r>
                <a:rPr lang="en-US" sz="3599" b="1" dirty="0">
                  <a:solidFill>
                    <a:srgbClr val="000000"/>
                  </a:solidFill>
                  <a:latin typeface="Arial MT Pro Bold"/>
                  <a:ea typeface="Arial MT Pro Bold"/>
                  <a:cs typeface="Arial MT Pro Bold"/>
                  <a:sym typeface="Arial MT Pro Bold"/>
                </a:rPr>
                <a:t>Screenshots</a:t>
              </a:r>
            </a:p>
            <a:p>
              <a:pPr marL="654680" lvl="1" indent="-327340" algn="just">
                <a:lnSpc>
                  <a:spcPts val="6479"/>
                </a:lnSpc>
              </a:pPr>
              <a:endParaRPr lang="en-US" sz="3599" b="1" dirty="0">
                <a:solidFill>
                  <a:srgbClr val="000000"/>
                </a:solidFill>
                <a:latin typeface="Arial MT Pro Bold"/>
                <a:ea typeface="Arial MT Pro Bold"/>
                <a:cs typeface="Arial MT Pro Bold"/>
                <a:sym typeface="Arial MT Pro Bold"/>
              </a:endParaRPr>
            </a:p>
          </p:txBody>
        </p:sp>
      </p:grpSp>
      <p:sp>
        <p:nvSpPr>
          <p:cNvPr id="8" name="Freeform 8"/>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9" name="Freeform 9" descr="KRCE Tiruchirappalli : Admission 2024, Courses, Fees, Placement, Cut Off"/>
          <p:cNvSpPr/>
          <p:nvPr/>
        </p:nvSpPr>
        <p:spPr>
          <a:xfrm>
            <a:off x="15012816" y="311328"/>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10" name="Group 10"/>
          <p:cNvGrpSpPr/>
          <p:nvPr/>
        </p:nvGrpSpPr>
        <p:grpSpPr>
          <a:xfrm>
            <a:off x="1028700" y="9277809"/>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08333" y="336491"/>
            <a:ext cx="20179683" cy="2070527"/>
            <a:chOff x="-4786594" y="-34317"/>
            <a:chExt cx="26607294" cy="2613336"/>
          </a:xfrm>
        </p:grpSpPr>
        <p:sp>
          <p:nvSpPr>
            <p:cNvPr id="3" name="Freeform 3"/>
            <p:cNvSpPr/>
            <p:nvPr/>
          </p:nvSpPr>
          <p:spPr>
            <a:xfrm>
              <a:off x="-4786594" y="296019"/>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ABSTRACT</a:t>
              </a:r>
            </a:p>
          </p:txBody>
        </p:sp>
      </p:grpSp>
      <p:grpSp>
        <p:nvGrpSpPr>
          <p:cNvPr id="5" name="Group 5"/>
          <p:cNvGrpSpPr/>
          <p:nvPr/>
        </p:nvGrpSpPr>
        <p:grpSpPr>
          <a:xfrm>
            <a:off x="1125841" y="1973121"/>
            <a:ext cx="15851310" cy="7085042"/>
            <a:chOff x="-121900" y="-331827"/>
            <a:chExt cx="20888400" cy="9319494"/>
          </a:xfrm>
        </p:grpSpPr>
        <p:sp>
          <p:nvSpPr>
            <p:cNvPr id="6" name="Freeform 6"/>
            <p:cNvSpPr/>
            <p:nvPr/>
          </p:nvSpPr>
          <p:spPr>
            <a:xfrm>
              <a:off x="-121900" y="-60933"/>
              <a:ext cx="20888400" cy="9048600"/>
            </a:xfrm>
            <a:custGeom>
              <a:avLst/>
              <a:gdLst/>
              <a:ahLst/>
              <a:cxnLst/>
              <a:rect l="l" t="t" r="r" b="b"/>
              <a:pathLst>
                <a:path w="20888400" h="9048600">
                  <a:moveTo>
                    <a:pt x="0" y="0"/>
                  </a:moveTo>
                  <a:lnTo>
                    <a:pt x="20888400" y="0"/>
                  </a:lnTo>
                  <a:lnTo>
                    <a:pt x="20888400" y="9048600"/>
                  </a:lnTo>
                  <a:lnTo>
                    <a:pt x="0" y="9048600"/>
                  </a:lnTo>
                  <a:close/>
                </a:path>
              </a:pathLst>
            </a:custGeom>
            <a:solidFill>
              <a:srgbClr val="000000">
                <a:alpha val="0"/>
              </a:srgbClr>
            </a:solidFill>
          </p:spPr>
        </p:sp>
        <p:sp>
          <p:nvSpPr>
            <p:cNvPr id="7" name="TextBox 7"/>
            <p:cNvSpPr txBox="1"/>
            <p:nvPr/>
          </p:nvSpPr>
          <p:spPr>
            <a:xfrm>
              <a:off x="120417" y="-331827"/>
              <a:ext cx="20644600" cy="9279156"/>
            </a:xfrm>
            <a:prstGeom prst="rect">
              <a:avLst/>
            </a:prstGeom>
          </p:spPr>
          <p:txBody>
            <a:bodyPr lIns="0" tIns="0" rIns="0" bIns="0" rtlCol="0" anchor="ctr"/>
            <a:lstStyle/>
            <a:p>
              <a:pPr algn="just">
                <a:lnSpc>
                  <a:spcPct val="150000"/>
                </a:lnSpc>
              </a:pPr>
              <a:r>
                <a:rPr lang="en-US" sz="4000" dirty="0">
                  <a:latin typeface="Times New Roman" panose="02020603050405020304" pitchFamily="18" charset="0"/>
                  <a:cs typeface="Times New Roman" panose="02020603050405020304" pitchFamily="18" charset="0"/>
                </a:rPr>
                <a:t>The Smart Water Tank Level Monitoring and Usage System is a simple and useful project used to monitor and control the water level in a tank. The system checks the amount of water available in the tank using a sensor. When the water level becomes low, the motor automatically turns ON to fill the tank. When the tank becomes full, the motor turns OFF automatically to prevent </a:t>
              </a:r>
              <a:r>
                <a:rPr lang="en-US" sz="4000" dirty="0" err="1">
                  <a:latin typeface="Times New Roman" panose="02020603050405020304" pitchFamily="18" charset="0"/>
                  <a:cs typeface="Times New Roman" panose="02020603050405020304" pitchFamily="18" charset="0"/>
                </a:rPr>
                <a:t>overflow.The</a:t>
              </a:r>
              <a:r>
                <a:rPr lang="en-US" sz="4000" dirty="0">
                  <a:latin typeface="Times New Roman" panose="02020603050405020304" pitchFamily="18" charset="0"/>
                  <a:cs typeface="Times New Roman" panose="02020603050405020304" pitchFamily="18" charset="0"/>
                </a:rPr>
                <a:t> system also gives alerts for low water level and full tank conditions. </a:t>
              </a:r>
            </a:p>
          </p:txBody>
        </p:sp>
      </p:grpSp>
      <p:sp>
        <p:nvSpPr>
          <p:cNvPr id="8" name="Freeform 8"/>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9" name="Freeform 9" descr="KRCE Tiruchirappalli : Admission 2024, Courses, Fees, Placement, Cut Off"/>
          <p:cNvSpPr/>
          <p:nvPr/>
        </p:nvSpPr>
        <p:spPr>
          <a:xfrm>
            <a:off x="15147226" y="321469"/>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10" name="Group 10"/>
          <p:cNvGrpSpPr/>
          <p:nvPr/>
        </p:nvGrpSpPr>
        <p:grpSpPr>
          <a:xfrm>
            <a:off x="1247775" y="9420112"/>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56635" y="336491"/>
            <a:ext cx="18927985" cy="1861469"/>
            <a:chOff x="-3136206" y="-34317"/>
            <a:chExt cx="24956906" cy="2349471"/>
          </a:xfrm>
        </p:grpSpPr>
        <p:sp>
          <p:nvSpPr>
            <p:cNvPr id="3" name="Freeform 3"/>
            <p:cNvSpPr/>
            <p:nvPr/>
          </p:nvSpPr>
          <p:spPr>
            <a:xfrm>
              <a:off x="-3136206" y="32154"/>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INTRODUCTION</a:t>
              </a:r>
            </a:p>
          </p:txBody>
        </p:sp>
      </p:grpSp>
      <p:sp>
        <p:nvSpPr>
          <p:cNvPr id="5" name="Freeform 5"/>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p:cNvSpPr/>
          <p:nvPr/>
        </p:nvSpPr>
        <p:spPr>
          <a:xfrm>
            <a:off x="15074069" y="321469"/>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p:cNvGrpSpPr/>
          <p:nvPr/>
        </p:nvGrpSpPr>
        <p:grpSpPr>
          <a:xfrm>
            <a:off x="1125859" y="2031578"/>
            <a:ext cx="15851309" cy="6879098"/>
            <a:chOff x="-121900" y="-60933"/>
            <a:chExt cx="20888400" cy="9048600"/>
          </a:xfrm>
        </p:grpSpPr>
        <p:sp>
          <p:nvSpPr>
            <p:cNvPr id="8" name="Freeform 8"/>
            <p:cNvSpPr/>
            <p:nvPr/>
          </p:nvSpPr>
          <p:spPr>
            <a:xfrm>
              <a:off x="-121900" y="-60933"/>
              <a:ext cx="20888400" cy="9048600"/>
            </a:xfrm>
            <a:custGeom>
              <a:avLst/>
              <a:gdLst/>
              <a:ahLst/>
              <a:cxnLst/>
              <a:rect l="l" t="t" r="r" b="b"/>
              <a:pathLst>
                <a:path w="20888400" h="9048600">
                  <a:moveTo>
                    <a:pt x="0" y="0"/>
                  </a:moveTo>
                  <a:lnTo>
                    <a:pt x="20888400" y="0"/>
                  </a:lnTo>
                  <a:lnTo>
                    <a:pt x="20888400" y="9048600"/>
                  </a:lnTo>
                  <a:lnTo>
                    <a:pt x="0" y="9048600"/>
                  </a:lnTo>
                  <a:close/>
                </a:path>
              </a:pathLst>
            </a:custGeom>
            <a:solidFill>
              <a:srgbClr val="000000">
                <a:alpha val="0"/>
              </a:srgbClr>
            </a:solidFill>
          </p:spPr>
        </p:sp>
        <p:sp>
          <p:nvSpPr>
            <p:cNvPr id="9" name="TextBox 9"/>
            <p:cNvSpPr txBox="1"/>
            <p:nvPr/>
          </p:nvSpPr>
          <p:spPr>
            <a:xfrm>
              <a:off x="205067" y="60909"/>
              <a:ext cx="20561433" cy="8926757"/>
            </a:xfrm>
            <a:prstGeom prst="rect">
              <a:avLst/>
            </a:prstGeom>
          </p:spPr>
          <p:txBody>
            <a:bodyPr lIns="0" tIns="0" rIns="0" bIns="0" rtlCol="0" anchor="ctr"/>
            <a:lstStyle/>
            <a:p>
              <a:pPr algn="just">
                <a:lnSpc>
                  <a:spcPct val="150000"/>
                </a:lnSpc>
              </a:pPr>
              <a:r>
                <a:rPr lang="en-US" sz="4000" dirty="0">
                  <a:latin typeface="Times New Roman" panose="02020603050405020304" pitchFamily="18" charset="0"/>
                  <a:cs typeface="Times New Roman" panose="02020603050405020304" pitchFamily="18" charset="0"/>
                </a:rPr>
                <a:t>The Smart Water Tank Level Monitoring and Usage System is designed to monitor and control the water level in a tank automatically. The system uses sensors to detect water level and controls the motor based on low and high water limits. It also provides alerts for low water level and overflow conditions while tracking water usage history. This project helps save water, reduce manual effort, prevent overflow, and improve efficient water management in homes, industries, and agriculture.</a:t>
              </a:r>
              <a:endParaRPr lang="en-US" sz="4000" dirty="0">
                <a:solidFill>
                  <a:srgbClr val="000000"/>
                </a:solidFill>
                <a:latin typeface="Times New Roman" panose="02020603050405020304" pitchFamily="18" charset="0"/>
                <a:ea typeface="Calibri (MS)"/>
                <a:cs typeface="Times New Roman" panose="02020603050405020304" pitchFamily="18" charset="0"/>
                <a:sym typeface="Calibri (MS)"/>
              </a:endParaRPr>
            </a:p>
          </p:txBody>
        </p:sp>
      </p:grpSp>
      <p:grpSp>
        <p:nvGrpSpPr>
          <p:cNvPr id="10" name="Group 10"/>
          <p:cNvGrpSpPr/>
          <p:nvPr/>
        </p:nvGrpSpPr>
        <p:grpSpPr>
          <a:xfrm>
            <a:off x="1028700" y="9258300"/>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411957"/>
            <a:ext cx="16456950" cy="1712250"/>
            <a:chOff x="121900" y="60933"/>
            <a:chExt cx="21698800" cy="2161133"/>
          </a:xfrm>
        </p:grpSpPr>
        <p:sp>
          <p:nvSpPr>
            <p:cNvPr id="3" name="Freeform 3"/>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EXISTING SYSTEM</a:t>
              </a:r>
            </a:p>
          </p:txBody>
        </p:sp>
      </p:grpSp>
      <p:sp>
        <p:nvSpPr>
          <p:cNvPr id="5" name="Freeform 5"/>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p:cNvSpPr/>
          <p:nvPr/>
        </p:nvSpPr>
        <p:spPr>
          <a:xfrm>
            <a:off x="15147224" y="388951"/>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p:cNvGrpSpPr/>
          <p:nvPr/>
        </p:nvGrpSpPr>
        <p:grpSpPr>
          <a:xfrm>
            <a:off x="1217220" y="1773539"/>
            <a:ext cx="15851309" cy="6946711"/>
            <a:chOff x="0" y="-594352"/>
            <a:chExt cx="20888400" cy="9137535"/>
          </a:xfrm>
        </p:grpSpPr>
        <p:sp>
          <p:nvSpPr>
            <p:cNvPr id="8" name="Freeform 8"/>
            <p:cNvSpPr/>
            <p:nvPr/>
          </p:nvSpPr>
          <p:spPr>
            <a:xfrm>
              <a:off x="0" y="-594352"/>
              <a:ext cx="20888400" cy="9048600"/>
            </a:xfrm>
            <a:custGeom>
              <a:avLst/>
              <a:gdLst/>
              <a:ahLst/>
              <a:cxnLst/>
              <a:rect l="l" t="t" r="r" b="b"/>
              <a:pathLst>
                <a:path w="20888400" h="9048600">
                  <a:moveTo>
                    <a:pt x="0" y="0"/>
                  </a:moveTo>
                  <a:lnTo>
                    <a:pt x="20888400" y="0"/>
                  </a:lnTo>
                  <a:lnTo>
                    <a:pt x="20888400" y="9048600"/>
                  </a:lnTo>
                  <a:lnTo>
                    <a:pt x="0" y="9048600"/>
                  </a:lnTo>
                  <a:close/>
                </a:path>
              </a:pathLst>
            </a:custGeom>
            <a:solidFill>
              <a:srgbClr val="000000">
                <a:alpha val="0"/>
              </a:srgbClr>
            </a:solidFill>
          </p:spPr>
        </p:sp>
        <p:sp>
          <p:nvSpPr>
            <p:cNvPr id="9" name="TextBox 9"/>
            <p:cNvSpPr txBox="1"/>
            <p:nvPr/>
          </p:nvSpPr>
          <p:spPr>
            <a:xfrm>
              <a:off x="291175" y="-557815"/>
              <a:ext cx="20559927" cy="9100998"/>
            </a:xfrm>
            <a:prstGeom prst="rect">
              <a:avLst/>
            </a:prstGeom>
          </p:spPr>
          <p:txBody>
            <a:bodyPr lIns="0" tIns="0" rIns="0" bIns="0" rtlCol="0" anchor="ctr"/>
            <a:lstStyle/>
            <a:p>
              <a:pPr algn="just">
                <a:lnSpc>
                  <a:spcPts val="8100"/>
                </a:lnSpc>
              </a:pPr>
              <a:r>
                <a:rPr lang="en-US" sz="4000" dirty="0">
                  <a:latin typeface="Times New Roman" panose="02020603050405020304" pitchFamily="18" charset="0"/>
                  <a:cs typeface="Times New Roman" panose="02020603050405020304" pitchFamily="18" charset="0"/>
                </a:rPr>
                <a:t>In the existing system, water tanks are mostly monitored and controlled manually. Users have to check the water level regularly and switch the motor ON or OFF manually. This method may lead to water overflow, water wastage, dry running of motors, and increased electricity consumption. It also requires continuous human attention and does not provide water usage tracking or alert facilities.</a:t>
              </a:r>
              <a:endParaRPr lang="en-US" sz="4000" dirty="0">
                <a:solidFill>
                  <a:srgbClr val="000000"/>
                </a:solidFill>
                <a:latin typeface="Times New Roman" panose="02020603050405020304" pitchFamily="18" charset="0"/>
                <a:ea typeface="Calibri (MS)"/>
                <a:cs typeface="Times New Roman" panose="02020603050405020304" pitchFamily="18" charset="0"/>
                <a:sym typeface="Calibri (MS)"/>
              </a:endParaRPr>
            </a:p>
          </p:txBody>
        </p:sp>
      </p:grpSp>
      <p:grpSp>
        <p:nvGrpSpPr>
          <p:cNvPr id="10" name="Group 10"/>
          <p:cNvGrpSpPr/>
          <p:nvPr/>
        </p:nvGrpSpPr>
        <p:grpSpPr>
          <a:xfrm>
            <a:off x="1028700" y="9420112"/>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411957"/>
            <a:ext cx="16456950" cy="1712250"/>
            <a:chOff x="121900" y="60933"/>
            <a:chExt cx="21698800" cy="2161133"/>
          </a:xfrm>
        </p:grpSpPr>
        <p:sp>
          <p:nvSpPr>
            <p:cNvPr id="3" name="Freeform 3"/>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PROPOSED</a:t>
              </a:r>
              <a:r>
                <a:rPr lang="en-US" sz="4500" b="1" dirty="0">
                  <a:solidFill>
                    <a:srgbClr val="000000"/>
                  </a:solidFill>
                  <a:latin typeface="Arial MT Pro Bold"/>
                  <a:ea typeface="Arial MT Pro Bold"/>
                  <a:cs typeface="Arial MT Pro Bold"/>
                  <a:sym typeface="Arial MT Pro Bold"/>
                </a:rPr>
                <a:t> </a:t>
              </a:r>
              <a:r>
                <a:rPr lang="en-US" sz="4500" b="1" dirty="0">
                  <a:solidFill>
                    <a:srgbClr val="FF0066"/>
                  </a:solidFill>
                  <a:latin typeface="Arial MT Pro Bold"/>
                  <a:ea typeface="Arial MT Pro Bold"/>
                  <a:cs typeface="Arial MT Pro Bold"/>
                  <a:sym typeface="Arial MT Pro Bold"/>
                </a:rPr>
                <a:t>SYSTEM</a:t>
              </a:r>
            </a:p>
          </p:txBody>
        </p:sp>
      </p:grpSp>
      <p:sp>
        <p:nvSpPr>
          <p:cNvPr id="5" name="Freeform 5"/>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p:cNvSpPr/>
          <p:nvPr/>
        </p:nvSpPr>
        <p:spPr>
          <a:xfrm>
            <a:off x="15075927" y="228600"/>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p:cNvGrpSpPr/>
          <p:nvPr/>
        </p:nvGrpSpPr>
        <p:grpSpPr>
          <a:xfrm>
            <a:off x="790930" y="1513883"/>
            <a:ext cx="16113797" cy="7259233"/>
            <a:chOff x="-467798" y="-60933"/>
            <a:chExt cx="21234298" cy="9548621"/>
          </a:xfrm>
        </p:grpSpPr>
        <p:sp>
          <p:nvSpPr>
            <p:cNvPr id="8" name="Freeform 8"/>
            <p:cNvSpPr/>
            <p:nvPr/>
          </p:nvSpPr>
          <p:spPr>
            <a:xfrm>
              <a:off x="-121900" y="-60933"/>
              <a:ext cx="20888400" cy="9048600"/>
            </a:xfrm>
            <a:custGeom>
              <a:avLst/>
              <a:gdLst/>
              <a:ahLst/>
              <a:cxnLst/>
              <a:rect l="l" t="t" r="r" b="b"/>
              <a:pathLst>
                <a:path w="20888400" h="9048600">
                  <a:moveTo>
                    <a:pt x="0" y="0"/>
                  </a:moveTo>
                  <a:lnTo>
                    <a:pt x="20888400" y="0"/>
                  </a:lnTo>
                  <a:lnTo>
                    <a:pt x="20888400" y="9048600"/>
                  </a:lnTo>
                  <a:lnTo>
                    <a:pt x="0" y="9048600"/>
                  </a:lnTo>
                  <a:close/>
                </a:path>
              </a:pathLst>
            </a:custGeom>
            <a:solidFill>
              <a:srgbClr val="000000">
                <a:alpha val="0"/>
              </a:srgbClr>
            </a:solidFill>
          </p:spPr>
        </p:sp>
        <p:sp>
          <p:nvSpPr>
            <p:cNvPr id="9" name="TextBox 9"/>
            <p:cNvSpPr txBox="1"/>
            <p:nvPr/>
          </p:nvSpPr>
          <p:spPr>
            <a:xfrm>
              <a:off x="-467798" y="1250022"/>
              <a:ext cx="20130617" cy="8237666"/>
            </a:xfrm>
            <a:prstGeom prst="rect">
              <a:avLst/>
            </a:prstGeom>
          </p:spPr>
          <p:txBody>
            <a:bodyPr lIns="0" tIns="0" rIns="0" bIns="0" rtlCol="0" anchor="ctr"/>
            <a:lstStyle/>
            <a:p>
              <a:pPr marL="539744" lvl="1" algn="just">
                <a:lnSpc>
                  <a:spcPct val="150000"/>
                </a:lnSpc>
              </a:pPr>
              <a:r>
                <a:rPr lang="en-US" sz="4000" dirty="0">
                  <a:latin typeface="Times New Roman" panose="02020603050405020304" pitchFamily="18" charset="0"/>
                  <a:cs typeface="Times New Roman" panose="02020603050405020304" pitchFamily="18" charset="0"/>
                </a:rPr>
                <a:t>The proposed Smart Water Tank Level Monitoring and Usage System automatically monitors and controls the water level in the tank using sensors and programmed logic. The system automatically turns the motor ON when the water level is low and turns it OFF when the tank becomes full. It also provides alerts for low water level, overflow prevention, and full tank conditions. In addition, the system tracks water usage and filling history for efficient water management. This system reduces manual work, saves water and electricity.</a:t>
              </a:r>
              <a:endParaRPr lang="en-US" sz="4000" dirty="0">
                <a:solidFill>
                  <a:srgbClr val="000000"/>
                </a:solidFill>
                <a:latin typeface="Times New Roman" panose="02020603050405020304" pitchFamily="18" charset="0"/>
                <a:ea typeface="Times New Roman MT"/>
                <a:cs typeface="Times New Roman" panose="02020603050405020304" pitchFamily="18" charset="0"/>
                <a:sym typeface="Times New Roman MT"/>
              </a:endParaRPr>
            </a:p>
          </p:txBody>
        </p:sp>
      </p:grpSp>
      <p:grpSp>
        <p:nvGrpSpPr>
          <p:cNvPr id="10" name="Group 10"/>
          <p:cNvGrpSpPr/>
          <p:nvPr/>
        </p:nvGrpSpPr>
        <p:grpSpPr>
          <a:xfrm>
            <a:off x="914400" y="9420112"/>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13308"/>
              <a:ext cx="5442626" cy="652834"/>
            </a:xfrm>
            <a:prstGeom prst="rect">
              <a:avLst/>
            </a:prstGeom>
          </p:spPr>
          <p:txBody>
            <a:bodyPr lIns="0" tIns="0" rIns="0" bIns="0" rtlCol="0" anchor="ctr"/>
            <a:lstStyle/>
            <a:p>
              <a:pPr algn="l">
                <a:lnSpc>
                  <a:spcPts val="2639"/>
                </a:lnSpc>
              </a:pPr>
              <a:r>
                <a:rPr lang="en-US" sz="2199">
                  <a:solidFill>
                    <a:srgbClr val="8B8B8B"/>
                  </a:solidFill>
                  <a:latin typeface="Calibri (MS)"/>
                  <a:ea typeface="Calibri (MS)"/>
                  <a:cs typeface="Calibri (MS)"/>
                  <a:sym typeface="Calibri (MS)"/>
                </a:rPr>
                <a:t>06/03/2025</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172575"/>
            <a:ext cx="16456950" cy="1712250"/>
            <a:chOff x="121900" y="60933"/>
            <a:chExt cx="21698800" cy="2161133"/>
          </a:xfrm>
        </p:grpSpPr>
        <p:sp>
          <p:nvSpPr>
            <p:cNvPr id="3" name="Freeform 3"/>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MODULES</a:t>
              </a:r>
              <a:r>
                <a:rPr lang="en-US" sz="4500" b="1" dirty="0">
                  <a:solidFill>
                    <a:srgbClr val="000000"/>
                  </a:solidFill>
                  <a:latin typeface="Arial MT Pro Bold"/>
                  <a:ea typeface="Arial MT Pro Bold"/>
                  <a:cs typeface="Arial MT Pro Bold"/>
                  <a:sym typeface="Arial MT Pro Bold"/>
                </a:rPr>
                <a:t> </a:t>
              </a:r>
            </a:p>
          </p:txBody>
        </p:sp>
      </p:grpSp>
      <p:grpSp>
        <p:nvGrpSpPr>
          <p:cNvPr id="5" name="Group 5"/>
          <p:cNvGrpSpPr/>
          <p:nvPr/>
        </p:nvGrpSpPr>
        <p:grpSpPr>
          <a:xfrm>
            <a:off x="914400" y="9534525"/>
            <a:ext cx="4264820" cy="545307"/>
            <a:chOff x="121900" y="60933"/>
            <a:chExt cx="5442626" cy="605209"/>
          </a:xfrm>
        </p:grpSpPr>
        <p:sp>
          <p:nvSpPr>
            <p:cNvPr id="6" name="Freeform 6"/>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7" name="TextBox 7"/>
            <p:cNvSpPr txBox="1"/>
            <p:nvPr/>
          </p:nvSpPr>
          <p:spPr>
            <a:xfrm>
              <a:off x="121900" y="13308"/>
              <a:ext cx="5442626" cy="652834"/>
            </a:xfrm>
            <a:prstGeom prst="rect">
              <a:avLst/>
            </a:prstGeom>
          </p:spPr>
          <p:txBody>
            <a:bodyPr lIns="0" tIns="0" rIns="0" bIns="0" rtlCol="0" anchor="ctr"/>
            <a:lstStyle/>
            <a:p>
              <a:pPr algn="l">
                <a:lnSpc>
                  <a:spcPts val="2759"/>
                </a:lnSpc>
              </a:pPr>
              <a:r>
                <a:rPr lang="en-US" sz="2299">
                  <a:solidFill>
                    <a:srgbClr val="8B8B8B"/>
                  </a:solidFill>
                  <a:latin typeface="Calibri (MS)"/>
                  <a:ea typeface="Calibri (MS)"/>
                  <a:cs typeface="Calibri (MS)"/>
                  <a:sym typeface="Calibri (MS)"/>
                </a:rPr>
                <a:t>06/03/2025</a:t>
              </a:r>
            </a:p>
          </p:txBody>
        </p:sp>
      </p:grpSp>
      <p:sp>
        <p:nvSpPr>
          <p:cNvPr id="9" name="Freeform 9" descr="KRCE Tiruchirappalli : Admission 2024, Courses, Fees, Placement, Cut Off"/>
          <p:cNvSpPr/>
          <p:nvPr/>
        </p:nvSpPr>
        <p:spPr>
          <a:xfrm>
            <a:off x="15090796" y="321469"/>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3"/>
            <a:stretch>
              <a:fillRect/>
            </a:stretch>
          </a:blipFill>
        </p:spPr>
      </p:sp>
      <p:sp>
        <p:nvSpPr>
          <p:cNvPr id="10" name="Freeform 10"/>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4"/>
            <a:stretch>
              <a:fillRect b="-115"/>
            </a:stretch>
          </a:blipFill>
        </p:spPr>
      </p:sp>
      <p:sp>
        <p:nvSpPr>
          <p:cNvPr id="12" name="TextBox 11">
            <a:extLst>
              <a:ext uri="{FF2B5EF4-FFF2-40B4-BE49-F238E27FC236}">
                <a16:creationId xmlns:a16="http://schemas.microsoft.com/office/drawing/2014/main" id="{D2237B85-9099-7532-92F2-3F3F033EA2AA}"/>
              </a:ext>
            </a:extLst>
          </p:cNvPr>
          <p:cNvSpPr txBox="1"/>
          <p:nvPr/>
        </p:nvSpPr>
        <p:spPr>
          <a:xfrm>
            <a:off x="5638800" y="3390900"/>
            <a:ext cx="9451996" cy="4247317"/>
          </a:xfrm>
          <a:prstGeom prst="rect">
            <a:avLst/>
          </a:prstGeom>
          <a:noFill/>
        </p:spPr>
        <p:txBody>
          <a:bodyPr wrap="square">
            <a:spAutoFit/>
          </a:bodyPr>
          <a:lstStyle/>
          <a:p>
            <a:r>
              <a:rPr lang="en-IN" sz="5400" b="1" dirty="0">
                <a:latin typeface="Times New Roman" panose="02020603050405020304" pitchFamily="18" charset="0"/>
                <a:cs typeface="Times New Roman" panose="02020603050405020304" pitchFamily="18" charset="0"/>
              </a:rPr>
              <a:t>1. Sensor</a:t>
            </a:r>
          </a:p>
          <a:p>
            <a:r>
              <a:rPr lang="en-IN" sz="5400" b="1" dirty="0">
                <a:latin typeface="Times New Roman" panose="02020603050405020304" pitchFamily="18" charset="0"/>
                <a:cs typeface="Times New Roman" panose="02020603050405020304" pitchFamily="18" charset="0"/>
              </a:rPr>
              <a:t>2. Water Level Monitoring</a:t>
            </a:r>
          </a:p>
          <a:p>
            <a:r>
              <a:rPr lang="en-IN" sz="5400" b="1" dirty="0">
                <a:latin typeface="Times New Roman" panose="02020603050405020304" pitchFamily="18" charset="0"/>
                <a:cs typeface="Times New Roman" panose="02020603050405020304" pitchFamily="18" charset="0"/>
              </a:rPr>
              <a:t>3. Motor Control</a:t>
            </a:r>
          </a:p>
          <a:p>
            <a:r>
              <a:rPr lang="en-IN" sz="5400" b="1" dirty="0">
                <a:latin typeface="Times New Roman" panose="02020603050405020304" pitchFamily="18" charset="0"/>
                <a:cs typeface="Times New Roman" panose="02020603050405020304" pitchFamily="18" charset="0"/>
              </a:rPr>
              <a:t>4. Alert</a:t>
            </a:r>
          </a:p>
          <a:p>
            <a:r>
              <a:rPr lang="en-IN" sz="5400" b="1" dirty="0">
                <a:latin typeface="Times New Roman" panose="02020603050405020304" pitchFamily="18" charset="0"/>
                <a:cs typeface="Times New Roman" panose="02020603050405020304" pitchFamily="18" charset="0"/>
              </a:rPr>
              <a:t>5. Data / Usage Tracking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 y="411957"/>
            <a:ext cx="16456950" cy="1712250"/>
            <a:chOff x="121900" y="60933"/>
            <a:chExt cx="21698800" cy="2161133"/>
          </a:xfrm>
        </p:grpSpPr>
        <p:sp>
          <p:nvSpPr>
            <p:cNvPr id="3" name="Freeform 3"/>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a:p>
          </p:txBody>
        </p:sp>
        <p:sp>
          <p:nvSpPr>
            <p:cNvPr id="4" name="TextBox 4"/>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MODULES DESCRIPTION</a:t>
              </a:r>
            </a:p>
          </p:txBody>
        </p:sp>
      </p:grpSp>
      <p:sp>
        <p:nvSpPr>
          <p:cNvPr id="5" name="Freeform 5"/>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sp>
        <p:nvSpPr>
          <p:cNvPr id="9" name="TextBox 9"/>
          <p:cNvSpPr txBox="1"/>
          <p:nvPr/>
        </p:nvSpPr>
        <p:spPr>
          <a:xfrm>
            <a:off x="5179221" y="2021516"/>
            <a:ext cx="9153028" cy="7347774"/>
          </a:xfrm>
          <a:prstGeom prst="rect">
            <a:avLst/>
          </a:prstGeom>
        </p:spPr>
        <p:txBody>
          <a:bodyPr lIns="0" tIns="0" rIns="0" bIns="0" rtlCol="0" anchor="ctr"/>
          <a:lstStyle/>
          <a:p>
            <a:pPr marL="485775" lvl="1"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p:txBody>
      </p:sp>
      <p:grpSp>
        <p:nvGrpSpPr>
          <p:cNvPr id="10" name="Group 10"/>
          <p:cNvGrpSpPr/>
          <p:nvPr/>
        </p:nvGrpSpPr>
        <p:grpSpPr>
          <a:xfrm>
            <a:off x="1028700" y="9369289"/>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4" name="TextBox 13">
            <a:extLst>
              <a:ext uri="{FF2B5EF4-FFF2-40B4-BE49-F238E27FC236}">
                <a16:creationId xmlns:a16="http://schemas.microsoft.com/office/drawing/2014/main" id="{B441140E-32C9-FE5C-E0F4-25D79CE778EB}"/>
              </a:ext>
            </a:extLst>
          </p:cNvPr>
          <p:cNvSpPr txBox="1"/>
          <p:nvPr/>
        </p:nvSpPr>
        <p:spPr>
          <a:xfrm>
            <a:off x="1247774" y="2271712"/>
            <a:ext cx="15666246" cy="6186309"/>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1.Sensor Module :</a:t>
            </a:r>
          </a:p>
          <a:p>
            <a:endParaRPr lang="en-IN" sz="4400" b="1" dirty="0">
              <a:latin typeface="Times New Roman" panose="02020603050405020304" pitchFamily="18" charset="0"/>
              <a:cs typeface="Times New Roman" panose="02020603050405020304" pitchFamily="18" charset="0"/>
            </a:endParaRPr>
          </a:p>
          <a:p>
            <a:pPr algn="just"/>
            <a:r>
              <a:rPr lang="en-US" sz="4400" dirty="0">
                <a:latin typeface="Times New Roman" panose="02020603050405020304" pitchFamily="18" charset="0"/>
                <a:cs typeface="Times New Roman" panose="02020603050405020304" pitchFamily="18" charset="0"/>
              </a:rPr>
              <a:t>The Sensor Module is used to detect the water level present inside the tank. It continuously checks the water level and sends the information to the monitoring system. In this project, sensor values are simulated using Python programming. In real-time applications, sensors such as ultrasonic sensors or water level sensors can be used. This module helps in accurate monitoring and automatic motor control.</a:t>
            </a:r>
            <a:endParaRPr lang="en-IN" sz="4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5775-D132-9A8D-F8CD-78A5BD9B96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7E3DA5-CA8E-8DEE-2DE9-9089C5A6DFCF}"/>
              </a:ext>
            </a:extLst>
          </p:cNvPr>
          <p:cNvGrpSpPr/>
          <p:nvPr/>
        </p:nvGrpSpPr>
        <p:grpSpPr>
          <a:xfrm>
            <a:off x="914400" y="411957"/>
            <a:ext cx="16456950" cy="1712250"/>
            <a:chOff x="121900" y="60933"/>
            <a:chExt cx="21698800" cy="2161133"/>
          </a:xfrm>
        </p:grpSpPr>
        <p:sp>
          <p:nvSpPr>
            <p:cNvPr id="3" name="Freeform 3">
              <a:extLst>
                <a:ext uri="{FF2B5EF4-FFF2-40B4-BE49-F238E27FC236}">
                  <a16:creationId xmlns:a16="http://schemas.microsoft.com/office/drawing/2014/main" id="{20A7A5B9-31CE-02E8-3BE0-9DAC4A88184E}"/>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a:p>
          </p:txBody>
        </p:sp>
        <p:sp>
          <p:nvSpPr>
            <p:cNvPr id="4" name="TextBox 4">
              <a:extLst>
                <a:ext uri="{FF2B5EF4-FFF2-40B4-BE49-F238E27FC236}">
                  <a16:creationId xmlns:a16="http://schemas.microsoft.com/office/drawing/2014/main" id="{9263BB55-1A62-070E-84D4-FD3A5231CA35}"/>
                </a:ext>
              </a:extLst>
            </p:cNvPr>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MODULES DESCRIPTION</a:t>
              </a:r>
            </a:p>
          </p:txBody>
        </p:sp>
      </p:grpSp>
      <p:sp>
        <p:nvSpPr>
          <p:cNvPr id="5" name="Freeform 5">
            <a:extLst>
              <a:ext uri="{FF2B5EF4-FFF2-40B4-BE49-F238E27FC236}">
                <a16:creationId xmlns:a16="http://schemas.microsoft.com/office/drawing/2014/main" id="{D701B465-77CC-30A4-7B9F-5B88E5A29230}"/>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99D16DB5-4A37-83EF-0BBA-41EC88F13BEA}"/>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sp>
        <p:nvSpPr>
          <p:cNvPr id="9" name="TextBox 9">
            <a:extLst>
              <a:ext uri="{FF2B5EF4-FFF2-40B4-BE49-F238E27FC236}">
                <a16:creationId xmlns:a16="http://schemas.microsoft.com/office/drawing/2014/main" id="{85731F61-CF6B-8EB7-2BE9-62E9FDD8A2FD}"/>
              </a:ext>
            </a:extLst>
          </p:cNvPr>
          <p:cNvSpPr txBox="1"/>
          <p:nvPr/>
        </p:nvSpPr>
        <p:spPr>
          <a:xfrm>
            <a:off x="5179221" y="2021516"/>
            <a:ext cx="9153028" cy="7347774"/>
          </a:xfrm>
          <a:prstGeom prst="rect">
            <a:avLst/>
          </a:prstGeom>
        </p:spPr>
        <p:txBody>
          <a:bodyPr lIns="0" tIns="0" rIns="0" bIns="0" rtlCol="0" anchor="ctr"/>
          <a:lstStyle/>
          <a:p>
            <a:pPr marL="485775" lvl="1"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p:txBody>
      </p:sp>
      <p:grpSp>
        <p:nvGrpSpPr>
          <p:cNvPr id="10" name="Group 10">
            <a:extLst>
              <a:ext uri="{FF2B5EF4-FFF2-40B4-BE49-F238E27FC236}">
                <a16:creationId xmlns:a16="http://schemas.microsoft.com/office/drawing/2014/main" id="{51F0C778-C9B7-2374-4E38-BD8A417B15D0}"/>
              </a:ext>
            </a:extLst>
          </p:cNvPr>
          <p:cNvGrpSpPr/>
          <p:nvPr/>
        </p:nvGrpSpPr>
        <p:grpSpPr>
          <a:xfrm>
            <a:off x="1028700" y="9369289"/>
            <a:ext cx="4264820" cy="545307"/>
            <a:chOff x="121900" y="60933"/>
            <a:chExt cx="5442626" cy="605209"/>
          </a:xfrm>
        </p:grpSpPr>
        <p:sp>
          <p:nvSpPr>
            <p:cNvPr id="11" name="Freeform 11">
              <a:extLst>
                <a:ext uri="{FF2B5EF4-FFF2-40B4-BE49-F238E27FC236}">
                  <a16:creationId xmlns:a16="http://schemas.microsoft.com/office/drawing/2014/main" id="{6F5E7DA7-25C2-7A97-FBEB-416BEED545BA}"/>
                </a:ext>
              </a:extLst>
            </p:cNvPr>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a:extLst>
                <a:ext uri="{FF2B5EF4-FFF2-40B4-BE49-F238E27FC236}">
                  <a16:creationId xmlns:a16="http://schemas.microsoft.com/office/drawing/2014/main" id="{50936708-4FFC-6C64-B73A-2AE7DE53DF8F}"/>
                </a:ext>
              </a:extLst>
            </p:cNvPr>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4" name="TextBox 13">
            <a:extLst>
              <a:ext uri="{FF2B5EF4-FFF2-40B4-BE49-F238E27FC236}">
                <a16:creationId xmlns:a16="http://schemas.microsoft.com/office/drawing/2014/main" id="{A8DBB4D4-3F39-3C9F-7409-BA34B3E07FA3}"/>
              </a:ext>
            </a:extLst>
          </p:cNvPr>
          <p:cNvSpPr txBox="1"/>
          <p:nvPr/>
        </p:nvSpPr>
        <p:spPr>
          <a:xfrm>
            <a:off x="1247774" y="2271712"/>
            <a:ext cx="15666246" cy="5509200"/>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2.Water Level Monitoring :</a:t>
            </a:r>
          </a:p>
          <a:p>
            <a:endParaRPr lang="en-IN" sz="4400" b="1" dirty="0">
              <a:latin typeface="Times New Roman" panose="02020603050405020304" pitchFamily="18" charset="0"/>
              <a:cs typeface="Times New Roman" panose="02020603050405020304" pitchFamily="18" charset="0"/>
            </a:endParaRPr>
          </a:p>
          <a:p>
            <a:pPr algn="just"/>
            <a:r>
              <a:rPr lang="en-US" sz="4400" dirty="0">
                <a:latin typeface="Times New Roman" panose="02020603050405020304" pitchFamily="18" charset="0"/>
                <a:cs typeface="Times New Roman" panose="02020603050405020304" pitchFamily="18" charset="0"/>
              </a:rPr>
              <a:t>The Water Level Monitoring Module continuously checks and displays the current water level inside the tank. It receives water level data from the sensor module and updates the system regularly. This module helps users know whether the water level is low, normal, or high at any time. It improves efficient water management and helps prevent water shortage and overflow conditions.</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9195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ED16C-93ED-CEEB-01DE-581DC14A5C3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0F6FA2-626D-9C50-B6B6-FEAB9900BD13}"/>
              </a:ext>
            </a:extLst>
          </p:cNvPr>
          <p:cNvGrpSpPr/>
          <p:nvPr/>
        </p:nvGrpSpPr>
        <p:grpSpPr>
          <a:xfrm>
            <a:off x="914400" y="411957"/>
            <a:ext cx="16456950" cy="1712250"/>
            <a:chOff x="121900" y="60933"/>
            <a:chExt cx="21698800" cy="2161133"/>
          </a:xfrm>
        </p:grpSpPr>
        <p:sp>
          <p:nvSpPr>
            <p:cNvPr id="3" name="Freeform 3">
              <a:extLst>
                <a:ext uri="{FF2B5EF4-FFF2-40B4-BE49-F238E27FC236}">
                  <a16:creationId xmlns:a16="http://schemas.microsoft.com/office/drawing/2014/main" id="{CB6F21C8-7DF5-2ED9-1834-4B278592B4D8}"/>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a:p>
          </p:txBody>
        </p:sp>
        <p:sp>
          <p:nvSpPr>
            <p:cNvPr id="4" name="TextBox 4">
              <a:extLst>
                <a:ext uri="{FF2B5EF4-FFF2-40B4-BE49-F238E27FC236}">
                  <a16:creationId xmlns:a16="http://schemas.microsoft.com/office/drawing/2014/main" id="{7EDFFB9D-9552-55F4-12EC-2A34D64CEFB9}"/>
                </a:ext>
              </a:extLst>
            </p:cNvPr>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MODULES DESCRIPTION</a:t>
              </a:r>
            </a:p>
          </p:txBody>
        </p:sp>
      </p:grpSp>
      <p:sp>
        <p:nvSpPr>
          <p:cNvPr id="5" name="Freeform 5">
            <a:extLst>
              <a:ext uri="{FF2B5EF4-FFF2-40B4-BE49-F238E27FC236}">
                <a16:creationId xmlns:a16="http://schemas.microsoft.com/office/drawing/2014/main" id="{7D30A9F2-148F-63F6-EE16-B4659A3B9A63}"/>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BB441A48-2B54-FEB5-5A5D-206536E2BA68}"/>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sp>
        <p:nvSpPr>
          <p:cNvPr id="9" name="TextBox 9">
            <a:extLst>
              <a:ext uri="{FF2B5EF4-FFF2-40B4-BE49-F238E27FC236}">
                <a16:creationId xmlns:a16="http://schemas.microsoft.com/office/drawing/2014/main" id="{2049D3E4-520D-F414-57B4-29C8D412D30D}"/>
              </a:ext>
            </a:extLst>
          </p:cNvPr>
          <p:cNvSpPr txBox="1"/>
          <p:nvPr/>
        </p:nvSpPr>
        <p:spPr>
          <a:xfrm>
            <a:off x="5179221" y="2021516"/>
            <a:ext cx="9153028" cy="7347774"/>
          </a:xfrm>
          <a:prstGeom prst="rect">
            <a:avLst/>
          </a:prstGeom>
        </p:spPr>
        <p:txBody>
          <a:bodyPr lIns="0" tIns="0" rIns="0" bIns="0" rtlCol="0" anchor="ctr"/>
          <a:lstStyle/>
          <a:p>
            <a:pPr marL="485775" lvl="1"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p:txBody>
      </p:sp>
      <p:grpSp>
        <p:nvGrpSpPr>
          <p:cNvPr id="10" name="Group 10">
            <a:extLst>
              <a:ext uri="{FF2B5EF4-FFF2-40B4-BE49-F238E27FC236}">
                <a16:creationId xmlns:a16="http://schemas.microsoft.com/office/drawing/2014/main" id="{00D4ADF2-B8E0-B29E-F6F4-46F0361C1926}"/>
              </a:ext>
            </a:extLst>
          </p:cNvPr>
          <p:cNvGrpSpPr/>
          <p:nvPr/>
        </p:nvGrpSpPr>
        <p:grpSpPr>
          <a:xfrm>
            <a:off x="1028700" y="9369289"/>
            <a:ext cx="4264820" cy="545307"/>
            <a:chOff x="121900" y="60933"/>
            <a:chExt cx="5442626" cy="605209"/>
          </a:xfrm>
        </p:grpSpPr>
        <p:sp>
          <p:nvSpPr>
            <p:cNvPr id="11" name="Freeform 11">
              <a:extLst>
                <a:ext uri="{FF2B5EF4-FFF2-40B4-BE49-F238E27FC236}">
                  <a16:creationId xmlns:a16="http://schemas.microsoft.com/office/drawing/2014/main" id="{E0902CF7-C563-A67D-2A38-43FCFD87CB5A}"/>
                </a:ext>
              </a:extLst>
            </p:cNvPr>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a:extLst>
                <a:ext uri="{FF2B5EF4-FFF2-40B4-BE49-F238E27FC236}">
                  <a16:creationId xmlns:a16="http://schemas.microsoft.com/office/drawing/2014/main" id="{F9C363EA-15B4-57A6-E011-625C9B639B02}"/>
                </a:ext>
              </a:extLst>
            </p:cNvPr>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4" name="TextBox 13">
            <a:extLst>
              <a:ext uri="{FF2B5EF4-FFF2-40B4-BE49-F238E27FC236}">
                <a16:creationId xmlns:a16="http://schemas.microsoft.com/office/drawing/2014/main" id="{270F0831-A889-4B27-16FF-17681E27612C}"/>
              </a:ext>
            </a:extLst>
          </p:cNvPr>
          <p:cNvSpPr txBox="1"/>
          <p:nvPr/>
        </p:nvSpPr>
        <p:spPr>
          <a:xfrm>
            <a:off x="1247774" y="2271712"/>
            <a:ext cx="15666246" cy="6186309"/>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3.Motor Control :</a:t>
            </a:r>
          </a:p>
          <a:p>
            <a:endParaRPr lang="en-IN" sz="4400" b="1" dirty="0">
              <a:latin typeface="Times New Roman" panose="02020603050405020304" pitchFamily="18" charset="0"/>
              <a:cs typeface="Times New Roman" panose="02020603050405020304" pitchFamily="18" charset="0"/>
            </a:endParaRPr>
          </a:p>
          <a:p>
            <a:pPr algn="just"/>
            <a:r>
              <a:rPr lang="en-US" sz="4400" dirty="0">
                <a:latin typeface="Times New Roman" panose="02020603050405020304" pitchFamily="18" charset="0"/>
                <a:cs typeface="Times New Roman" panose="02020603050405020304" pitchFamily="18" charset="0"/>
              </a:rPr>
              <a:t>The Motor Control Module is responsible for controlling the water pump motor automatically based on the water level in the tank. When the water level falls below the minimum limit, the motor turns ON automatically to start filling the tank. When the tank reaches the maximum water level, the motor turns OFF automatically to prevent overflow. This module reduces manual effort, saves electricity, and ensures efficient and safe water management.</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70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FA281-2B20-D320-52ED-A948C08B97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81066C3-5DA3-914D-0505-91A29C5443CB}"/>
              </a:ext>
            </a:extLst>
          </p:cNvPr>
          <p:cNvGrpSpPr/>
          <p:nvPr/>
        </p:nvGrpSpPr>
        <p:grpSpPr>
          <a:xfrm>
            <a:off x="914400" y="411957"/>
            <a:ext cx="16456950" cy="1712250"/>
            <a:chOff x="121900" y="60933"/>
            <a:chExt cx="21698800" cy="2161133"/>
          </a:xfrm>
        </p:grpSpPr>
        <p:sp>
          <p:nvSpPr>
            <p:cNvPr id="3" name="Freeform 3">
              <a:extLst>
                <a:ext uri="{FF2B5EF4-FFF2-40B4-BE49-F238E27FC236}">
                  <a16:creationId xmlns:a16="http://schemas.microsoft.com/office/drawing/2014/main" id="{C5305D80-964F-8172-FD34-3EFAFFB1F46C}"/>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a:p>
          </p:txBody>
        </p:sp>
        <p:sp>
          <p:nvSpPr>
            <p:cNvPr id="4" name="TextBox 4">
              <a:extLst>
                <a:ext uri="{FF2B5EF4-FFF2-40B4-BE49-F238E27FC236}">
                  <a16:creationId xmlns:a16="http://schemas.microsoft.com/office/drawing/2014/main" id="{2D457D67-0C9F-1230-272C-7C67EB1BA970}"/>
                </a:ext>
              </a:extLst>
            </p:cNvPr>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MODULES DESCRIPTION</a:t>
              </a:r>
            </a:p>
          </p:txBody>
        </p:sp>
      </p:grpSp>
      <p:sp>
        <p:nvSpPr>
          <p:cNvPr id="5" name="Freeform 5">
            <a:extLst>
              <a:ext uri="{FF2B5EF4-FFF2-40B4-BE49-F238E27FC236}">
                <a16:creationId xmlns:a16="http://schemas.microsoft.com/office/drawing/2014/main" id="{F865CEED-5B82-08F5-FAA0-6E50ED5803A9}"/>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80E61CF6-F7FC-0B23-4CF7-FC2AFF0B9BF9}"/>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sp>
        <p:nvSpPr>
          <p:cNvPr id="9" name="TextBox 9">
            <a:extLst>
              <a:ext uri="{FF2B5EF4-FFF2-40B4-BE49-F238E27FC236}">
                <a16:creationId xmlns:a16="http://schemas.microsoft.com/office/drawing/2014/main" id="{31ECFF45-FE15-33BD-BC5A-2D5815BA10CB}"/>
              </a:ext>
            </a:extLst>
          </p:cNvPr>
          <p:cNvSpPr txBox="1"/>
          <p:nvPr/>
        </p:nvSpPr>
        <p:spPr>
          <a:xfrm>
            <a:off x="5179221" y="2021516"/>
            <a:ext cx="9153028" cy="7347774"/>
          </a:xfrm>
          <a:prstGeom prst="rect">
            <a:avLst/>
          </a:prstGeom>
        </p:spPr>
        <p:txBody>
          <a:bodyPr lIns="0" tIns="0" rIns="0" bIns="0" rtlCol="0" anchor="ctr"/>
          <a:lstStyle/>
          <a:p>
            <a:pPr marL="485775" lvl="1"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p:txBody>
      </p:sp>
      <p:grpSp>
        <p:nvGrpSpPr>
          <p:cNvPr id="10" name="Group 10">
            <a:extLst>
              <a:ext uri="{FF2B5EF4-FFF2-40B4-BE49-F238E27FC236}">
                <a16:creationId xmlns:a16="http://schemas.microsoft.com/office/drawing/2014/main" id="{4264D21B-2887-E229-EAE0-72559338E1E4}"/>
              </a:ext>
            </a:extLst>
          </p:cNvPr>
          <p:cNvGrpSpPr/>
          <p:nvPr/>
        </p:nvGrpSpPr>
        <p:grpSpPr>
          <a:xfrm>
            <a:off x="1028700" y="9369289"/>
            <a:ext cx="4264820" cy="545307"/>
            <a:chOff x="121900" y="60933"/>
            <a:chExt cx="5442626" cy="605209"/>
          </a:xfrm>
        </p:grpSpPr>
        <p:sp>
          <p:nvSpPr>
            <p:cNvPr id="11" name="Freeform 11">
              <a:extLst>
                <a:ext uri="{FF2B5EF4-FFF2-40B4-BE49-F238E27FC236}">
                  <a16:creationId xmlns:a16="http://schemas.microsoft.com/office/drawing/2014/main" id="{3C15F727-14A7-7851-33A8-B64D54F771AA}"/>
                </a:ext>
              </a:extLst>
            </p:cNvPr>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a:extLst>
                <a:ext uri="{FF2B5EF4-FFF2-40B4-BE49-F238E27FC236}">
                  <a16:creationId xmlns:a16="http://schemas.microsoft.com/office/drawing/2014/main" id="{ED626D3F-DD26-579A-E8D0-4043115A50A7}"/>
                </a:ext>
              </a:extLst>
            </p:cNvPr>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4" name="TextBox 13">
            <a:extLst>
              <a:ext uri="{FF2B5EF4-FFF2-40B4-BE49-F238E27FC236}">
                <a16:creationId xmlns:a16="http://schemas.microsoft.com/office/drawing/2014/main" id="{6DFA92FB-BEFA-3368-BF3A-AD4CBEC7561F}"/>
              </a:ext>
            </a:extLst>
          </p:cNvPr>
          <p:cNvSpPr txBox="1"/>
          <p:nvPr/>
        </p:nvSpPr>
        <p:spPr>
          <a:xfrm>
            <a:off x="1247774" y="2271712"/>
            <a:ext cx="15666246" cy="5509200"/>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4.Alert :</a:t>
            </a:r>
          </a:p>
          <a:p>
            <a:endParaRPr lang="en-IN" sz="4400" b="1" dirty="0">
              <a:latin typeface="Times New Roman" panose="02020603050405020304" pitchFamily="18" charset="0"/>
              <a:cs typeface="Times New Roman" panose="02020603050405020304" pitchFamily="18" charset="0"/>
            </a:endParaRPr>
          </a:p>
          <a:p>
            <a:pPr algn="just"/>
            <a:r>
              <a:rPr lang="en-US" sz="4400" dirty="0">
                <a:latin typeface="Times New Roman" panose="02020603050405020304" pitchFamily="18" charset="0"/>
                <a:cs typeface="Times New Roman" panose="02020603050405020304" pitchFamily="18" charset="0"/>
              </a:rPr>
              <a:t>The Alert Module provides warning and status messages according to the water level condition in the tank. It alerts the user when the water level is low, very low, high, or completely full. The module helps prevent overflow and water shortage problems by giving timely notifications. It improves the safety and reliability of the water tank monitoring system.</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952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C6B5D-9B3C-C9AD-2522-DFBCE5703E1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DE06396-7603-788C-17A4-EBA326A48C67}"/>
              </a:ext>
            </a:extLst>
          </p:cNvPr>
          <p:cNvGrpSpPr/>
          <p:nvPr/>
        </p:nvGrpSpPr>
        <p:grpSpPr>
          <a:xfrm>
            <a:off x="914400" y="411957"/>
            <a:ext cx="16456950" cy="1712250"/>
            <a:chOff x="121900" y="60933"/>
            <a:chExt cx="21698800" cy="2161133"/>
          </a:xfrm>
        </p:grpSpPr>
        <p:sp>
          <p:nvSpPr>
            <p:cNvPr id="3" name="Freeform 3">
              <a:extLst>
                <a:ext uri="{FF2B5EF4-FFF2-40B4-BE49-F238E27FC236}">
                  <a16:creationId xmlns:a16="http://schemas.microsoft.com/office/drawing/2014/main" id="{337A046C-84E2-0494-EBB7-EC03FCC24D71}"/>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a:p>
          </p:txBody>
        </p:sp>
        <p:sp>
          <p:nvSpPr>
            <p:cNvPr id="4" name="TextBox 4">
              <a:extLst>
                <a:ext uri="{FF2B5EF4-FFF2-40B4-BE49-F238E27FC236}">
                  <a16:creationId xmlns:a16="http://schemas.microsoft.com/office/drawing/2014/main" id="{65925B99-9230-AE51-397A-98B7464E0083}"/>
                </a:ext>
              </a:extLst>
            </p:cNvPr>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MODULES DESCRIPTION</a:t>
              </a:r>
            </a:p>
          </p:txBody>
        </p:sp>
      </p:grpSp>
      <p:sp>
        <p:nvSpPr>
          <p:cNvPr id="5" name="Freeform 5">
            <a:extLst>
              <a:ext uri="{FF2B5EF4-FFF2-40B4-BE49-F238E27FC236}">
                <a16:creationId xmlns:a16="http://schemas.microsoft.com/office/drawing/2014/main" id="{028AA1AC-863B-2597-EE88-B9733DF151AE}"/>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DB15282D-4F62-64A3-D6D5-4B3720AF03DB}"/>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sp>
        <p:nvSpPr>
          <p:cNvPr id="9" name="TextBox 9">
            <a:extLst>
              <a:ext uri="{FF2B5EF4-FFF2-40B4-BE49-F238E27FC236}">
                <a16:creationId xmlns:a16="http://schemas.microsoft.com/office/drawing/2014/main" id="{A44AF001-BACD-09E6-7CF9-434EF32D9767}"/>
              </a:ext>
            </a:extLst>
          </p:cNvPr>
          <p:cNvSpPr txBox="1"/>
          <p:nvPr/>
        </p:nvSpPr>
        <p:spPr>
          <a:xfrm>
            <a:off x="5179221" y="2021516"/>
            <a:ext cx="9153028" cy="7347774"/>
          </a:xfrm>
          <a:prstGeom prst="rect">
            <a:avLst/>
          </a:prstGeom>
        </p:spPr>
        <p:txBody>
          <a:bodyPr lIns="0" tIns="0" rIns="0" bIns="0" rtlCol="0" anchor="ctr"/>
          <a:lstStyle/>
          <a:p>
            <a:pPr marL="485775" lvl="1"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a:p>
            <a:pPr algn="just">
              <a:lnSpc>
                <a:spcPts val="8100"/>
              </a:lnSpc>
            </a:pPr>
            <a:endParaRPr lang="en-US" sz="4500" b="1" dirty="0">
              <a:solidFill>
                <a:srgbClr val="000000"/>
              </a:solidFill>
              <a:latin typeface="Calibri (MS) Bold"/>
              <a:ea typeface="Calibri (MS) Bold"/>
              <a:cs typeface="Calibri (MS) Bold"/>
              <a:sym typeface="Calibri (MS) Bold"/>
            </a:endParaRPr>
          </a:p>
        </p:txBody>
      </p:sp>
      <p:grpSp>
        <p:nvGrpSpPr>
          <p:cNvPr id="10" name="Group 10">
            <a:extLst>
              <a:ext uri="{FF2B5EF4-FFF2-40B4-BE49-F238E27FC236}">
                <a16:creationId xmlns:a16="http://schemas.microsoft.com/office/drawing/2014/main" id="{80D20120-6CDE-4AC8-5E72-2FF2D36B6290}"/>
              </a:ext>
            </a:extLst>
          </p:cNvPr>
          <p:cNvGrpSpPr/>
          <p:nvPr/>
        </p:nvGrpSpPr>
        <p:grpSpPr>
          <a:xfrm>
            <a:off x="1028700" y="9369289"/>
            <a:ext cx="4264820" cy="545307"/>
            <a:chOff x="121900" y="60933"/>
            <a:chExt cx="5442626" cy="605209"/>
          </a:xfrm>
        </p:grpSpPr>
        <p:sp>
          <p:nvSpPr>
            <p:cNvPr id="11" name="Freeform 11">
              <a:extLst>
                <a:ext uri="{FF2B5EF4-FFF2-40B4-BE49-F238E27FC236}">
                  <a16:creationId xmlns:a16="http://schemas.microsoft.com/office/drawing/2014/main" id="{C7B6A35E-6503-AB62-6ECD-F2F3605DB0CB}"/>
                </a:ext>
              </a:extLst>
            </p:cNvPr>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a:extLst>
                <a:ext uri="{FF2B5EF4-FFF2-40B4-BE49-F238E27FC236}">
                  <a16:creationId xmlns:a16="http://schemas.microsoft.com/office/drawing/2014/main" id="{E71A809E-7424-A95E-3D4B-74FB66A6D183}"/>
                </a:ext>
              </a:extLst>
            </p:cNvPr>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4" name="TextBox 13">
            <a:extLst>
              <a:ext uri="{FF2B5EF4-FFF2-40B4-BE49-F238E27FC236}">
                <a16:creationId xmlns:a16="http://schemas.microsoft.com/office/drawing/2014/main" id="{7E07B70F-9E4B-7BFA-E161-F4998B388086}"/>
              </a:ext>
            </a:extLst>
          </p:cNvPr>
          <p:cNvSpPr txBox="1"/>
          <p:nvPr/>
        </p:nvSpPr>
        <p:spPr>
          <a:xfrm>
            <a:off x="1247774" y="2271712"/>
            <a:ext cx="15666246" cy="5509200"/>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5.Data/Usage Tracking :</a:t>
            </a:r>
          </a:p>
          <a:p>
            <a:endParaRPr lang="en-IN" sz="4400" b="1" dirty="0">
              <a:latin typeface="Times New Roman" panose="02020603050405020304" pitchFamily="18" charset="0"/>
              <a:cs typeface="Times New Roman" panose="02020603050405020304" pitchFamily="18" charset="0"/>
            </a:endParaRPr>
          </a:p>
          <a:p>
            <a:pPr algn="just"/>
            <a:r>
              <a:rPr lang="en-US" sz="4400" dirty="0">
                <a:latin typeface="Times New Roman" panose="02020603050405020304" pitchFamily="18" charset="0"/>
                <a:cs typeface="Times New Roman" panose="02020603050405020304" pitchFamily="18" charset="0"/>
              </a:rPr>
              <a:t>The Data / Usage Tracking Module is used to store and monitor water usage and tank filling details. It records the amount of water used, amount of water added, and the time of each operation. The module maintains usage history and fill history for future reference and analysis. This helps users understand water consumption patterns and supports better water management.</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790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27408" y="83145"/>
            <a:ext cx="20398758" cy="2041062"/>
            <a:chOff x="-5075448" y="-354080"/>
            <a:chExt cx="26896148" cy="2576146"/>
          </a:xfrm>
        </p:grpSpPr>
        <p:sp>
          <p:nvSpPr>
            <p:cNvPr id="3" name="Freeform 3"/>
            <p:cNvSpPr/>
            <p:nvPr/>
          </p:nvSpPr>
          <p:spPr>
            <a:xfrm>
              <a:off x="-5075448" y="-354080"/>
              <a:ext cx="21942599" cy="2283001"/>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dirty="0"/>
            </a:p>
          </p:txBody>
        </p:sp>
        <p:sp>
          <p:nvSpPr>
            <p:cNvPr id="4" name="TextBox 4"/>
            <p:cNvSpPr txBox="1"/>
            <p:nvPr/>
          </p:nvSpPr>
          <p:spPr>
            <a:xfrm>
              <a:off x="121900" y="-15267"/>
              <a:ext cx="21698800" cy="2237333"/>
            </a:xfrm>
            <a:prstGeom prst="rect">
              <a:avLst/>
            </a:prstGeom>
          </p:spPr>
          <p:txBody>
            <a:bodyPr lIns="0" tIns="0" rIns="0" bIns="0" rtlCol="0" anchor="ctr"/>
            <a:lstStyle/>
            <a:p>
              <a:pPr algn="ctr">
                <a:lnSpc>
                  <a:spcPts val="4320"/>
                </a:lnSpc>
              </a:pPr>
              <a:r>
                <a:rPr lang="en-US" sz="4500" b="1" dirty="0">
                  <a:solidFill>
                    <a:srgbClr val="FF0066"/>
                  </a:solidFill>
                  <a:latin typeface="Arial MT Pro Bold"/>
                  <a:ea typeface="Arial MT Pro Bold"/>
                  <a:cs typeface="Arial MT Pro Bold"/>
                  <a:sym typeface="Arial MT Pro Bold"/>
                </a:rPr>
                <a:t>ARCHITECTURE</a:t>
              </a:r>
              <a:r>
                <a:rPr lang="en-US" sz="4500" b="1" dirty="0">
                  <a:solidFill>
                    <a:srgbClr val="000000"/>
                  </a:solidFill>
                  <a:latin typeface="Arial MT Pro Bold"/>
                  <a:ea typeface="Arial MT Pro Bold"/>
                  <a:cs typeface="Arial MT Pro Bold"/>
                  <a:sym typeface="Arial MT Pro Bold"/>
                </a:rPr>
                <a:t> </a:t>
              </a:r>
              <a:r>
                <a:rPr lang="en-US" sz="4500" b="1" dirty="0">
                  <a:solidFill>
                    <a:srgbClr val="FF0066"/>
                  </a:solidFill>
                  <a:latin typeface="Arial MT Pro Bold"/>
                  <a:ea typeface="Arial MT Pro Bold"/>
                  <a:cs typeface="Arial MT Pro Bold"/>
                  <a:sym typeface="Arial MT Pro Bold"/>
                </a:rPr>
                <a:t>DIAGRAM</a:t>
              </a:r>
            </a:p>
          </p:txBody>
        </p:sp>
      </p:grpSp>
      <p:sp>
        <p:nvSpPr>
          <p:cNvPr id="5" name="Freeform 5"/>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p:cNvGrpSpPr/>
          <p:nvPr/>
        </p:nvGrpSpPr>
        <p:grpSpPr>
          <a:xfrm>
            <a:off x="1310850" y="1750275"/>
            <a:ext cx="15603300" cy="6786450"/>
            <a:chOff x="121900" y="60933"/>
            <a:chExt cx="20560600" cy="8926733"/>
          </a:xfrm>
        </p:grpSpPr>
        <p:sp>
          <p:nvSpPr>
            <p:cNvPr id="8" name="Freeform 8"/>
            <p:cNvSpPr/>
            <p:nvPr/>
          </p:nvSpPr>
          <p:spPr>
            <a:xfrm>
              <a:off x="-121900" y="-60933"/>
              <a:ext cx="20804400" cy="9048600"/>
            </a:xfrm>
            <a:custGeom>
              <a:avLst/>
              <a:gdLst/>
              <a:ahLst/>
              <a:cxnLst/>
              <a:rect l="l" t="t" r="r" b="b"/>
              <a:pathLst>
                <a:path w="20804400" h="9048600">
                  <a:moveTo>
                    <a:pt x="0" y="0"/>
                  </a:moveTo>
                  <a:lnTo>
                    <a:pt x="20804400" y="0"/>
                  </a:lnTo>
                  <a:lnTo>
                    <a:pt x="20804400" y="9048600"/>
                  </a:lnTo>
                  <a:lnTo>
                    <a:pt x="0" y="9048600"/>
                  </a:lnTo>
                  <a:close/>
                </a:path>
              </a:pathLst>
            </a:custGeom>
            <a:solidFill>
              <a:srgbClr val="000000">
                <a:alpha val="0"/>
              </a:srgbClr>
            </a:solidFill>
          </p:spPr>
        </p:sp>
        <p:sp>
          <p:nvSpPr>
            <p:cNvPr id="9" name="TextBox 9"/>
            <p:cNvSpPr txBox="1"/>
            <p:nvPr/>
          </p:nvSpPr>
          <p:spPr>
            <a:xfrm>
              <a:off x="121900" y="-262917"/>
              <a:ext cx="20560600" cy="9250583"/>
            </a:xfrm>
            <a:prstGeom prst="rect">
              <a:avLst/>
            </a:prstGeom>
          </p:spPr>
          <p:txBody>
            <a:bodyPr lIns="0" tIns="0" rIns="0" bIns="0" rtlCol="0" anchor="ctr"/>
            <a:lstStyle/>
            <a:p>
              <a:pPr algn="just">
                <a:lnSpc>
                  <a:spcPts val="7560"/>
                </a:lnSpc>
              </a:pPr>
              <a:endParaRPr lang="en-US" sz="4200" dirty="0">
                <a:solidFill>
                  <a:srgbClr val="000000"/>
                </a:solidFill>
                <a:latin typeface="Calibri (MS)"/>
                <a:ea typeface="Calibri (MS)"/>
                <a:cs typeface="Calibri (MS)"/>
                <a:sym typeface="Calibri (MS)"/>
              </a:endParaRPr>
            </a:p>
          </p:txBody>
        </p:sp>
      </p:grpSp>
      <p:grpSp>
        <p:nvGrpSpPr>
          <p:cNvPr id="10" name="Group 10"/>
          <p:cNvGrpSpPr/>
          <p:nvPr/>
        </p:nvGrpSpPr>
        <p:grpSpPr>
          <a:xfrm>
            <a:off x="1028700" y="9258300"/>
            <a:ext cx="4264820" cy="545307"/>
            <a:chOff x="121900" y="60933"/>
            <a:chExt cx="5442626" cy="605209"/>
          </a:xfrm>
        </p:grpSpPr>
        <p:sp>
          <p:nvSpPr>
            <p:cNvPr id="11" name="Freeform 11"/>
            <p:cNvSpPr/>
            <p:nvPr/>
          </p:nvSpPr>
          <p:spPr>
            <a:xfrm>
              <a:off x="-121900" y="-60933"/>
              <a:ext cx="5686426" cy="727076"/>
            </a:xfrm>
            <a:custGeom>
              <a:avLst/>
              <a:gdLst/>
              <a:ahLst/>
              <a:cxn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2" name="TextBox 12"/>
            <p:cNvSpPr txBox="1"/>
            <p:nvPr/>
          </p:nvSpPr>
          <p:spPr>
            <a:xfrm>
              <a:off x="121900" y="3783"/>
              <a:ext cx="5442626" cy="662359"/>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pic>
        <p:nvPicPr>
          <p:cNvPr id="14" name="Picture 13">
            <a:extLst>
              <a:ext uri="{FF2B5EF4-FFF2-40B4-BE49-F238E27FC236}">
                <a16:creationId xmlns:a16="http://schemas.microsoft.com/office/drawing/2014/main" id="{A74AB34D-AD58-0AAE-28B6-B97E59D073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13398" y="2202425"/>
            <a:ext cx="13106400" cy="6315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9496" y="-159243"/>
            <a:ext cx="16673840" cy="2283450"/>
            <a:chOff x="-121900" y="-660012"/>
            <a:chExt cx="21984774" cy="2882079"/>
          </a:xfrm>
        </p:grpSpPr>
        <p:sp>
          <p:nvSpPr>
            <p:cNvPr id="3" name="Freeform 3"/>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p:cNvSpPr txBox="1"/>
            <p:nvPr/>
          </p:nvSpPr>
          <p:spPr>
            <a:xfrm>
              <a:off x="164074" y="-660012"/>
              <a:ext cx="21698800" cy="2256384"/>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DATA FLOW DIAGRAM(DFD) </a:t>
              </a:r>
            </a:p>
          </p:txBody>
        </p:sp>
      </p:grpSp>
      <p:sp>
        <p:nvSpPr>
          <p:cNvPr id="5" name="Freeform 5"/>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p:cNvSpPr/>
          <p:nvPr/>
        </p:nvSpPr>
        <p:spPr>
          <a:xfrm>
            <a:off x="15085350" y="390333"/>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p:cNvGrpSpPr/>
          <p:nvPr/>
        </p:nvGrpSpPr>
        <p:grpSpPr>
          <a:xfrm>
            <a:off x="1310850" y="1750275"/>
            <a:ext cx="15603300" cy="6786450"/>
            <a:chOff x="121900" y="60933"/>
            <a:chExt cx="20560600" cy="8926733"/>
          </a:xfrm>
        </p:grpSpPr>
        <p:sp>
          <p:nvSpPr>
            <p:cNvPr id="8" name="Freeform 8"/>
            <p:cNvSpPr/>
            <p:nvPr/>
          </p:nvSpPr>
          <p:spPr>
            <a:xfrm>
              <a:off x="-121900" y="-60933"/>
              <a:ext cx="20804400" cy="9048600"/>
            </a:xfrm>
            <a:custGeom>
              <a:avLst/>
              <a:gdLst/>
              <a:ahLst/>
              <a:cxnLst/>
              <a:rect l="l" t="t" r="r" b="b"/>
              <a:pathLst>
                <a:path w="20804400" h="9048600">
                  <a:moveTo>
                    <a:pt x="0" y="0"/>
                  </a:moveTo>
                  <a:lnTo>
                    <a:pt x="20804400" y="0"/>
                  </a:lnTo>
                  <a:lnTo>
                    <a:pt x="20804400" y="9048600"/>
                  </a:lnTo>
                  <a:lnTo>
                    <a:pt x="0" y="9048600"/>
                  </a:lnTo>
                  <a:close/>
                </a:path>
              </a:pathLst>
            </a:custGeom>
            <a:solidFill>
              <a:srgbClr val="000000">
                <a:alpha val="0"/>
              </a:srgbClr>
            </a:solidFill>
          </p:spPr>
        </p:sp>
        <p:sp>
          <p:nvSpPr>
            <p:cNvPr id="9" name="TextBox 9"/>
            <p:cNvSpPr txBox="1"/>
            <p:nvPr/>
          </p:nvSpPr>
          <p:spPr>
            <a:xfrm>
              <a:off x="121900" y="-262917"/>
              <a:ext cx="20560600" cy="9250583"/>
            </a:xfrm>
            <a:prstGeom prst="rect">
              <a:avLst/>
            </a:prstGeom>
          </p:spPr>
          <p:txBody>
            <a:bodyPr lIns="0" tIns="0" rIns="0" bIns="0" rtlCol="0" anchor="ctr"/>
            <a:lstStyle/>
            <a:p>
              <a:pPr algn="just">
                <a:lnSpc>
                  <a:spcPts val="7560"/>
                </a:lnSpc>
              </a:pPr>
              <a:endParaRPr lang="en-US" sz="4200" dirty="0">
                <a:solidFill>
                  <a:srgbClr val="000000"/>
                </a:solidFill>
                <a:latin typeface="Calibri (MS)"/>
                <a:ea typeface="Calibri (MS)"/>
                <a:cs typeface="Calibri (MS)"/>
                <a:sym typeface="Calibri (MS)"/>
              </a:endParaRPr>
            </a:p>
          </p:txBody>
        </p:sp>
      </p:grpSp>
      <p:grpSp>
        <p:nvGrpSpPr>
          <p:cNvPr id="10" name="Group 10"/>
          <p:cNvGrpSpPr/>
          <p:nvPr/>
        </p:nvGrpSpPr>
        <p:grpSpPr>
          <a:xfrm>
            <a:off x="1028700" y="9258300"/>
            <a:ext cx="4264820" cy="821532"/>
            <a:chOff x="121900" y="60933"/>
            <a:chExt cx="5442626" cy="911778"/>
          </a:xfrm>
        </p:grpSpPr>
        <p:sp>
          <p:nvSpPr>
            <p:cNvPr id="11" name="Freeform 11"/>
            <p:cNvSpPr/>
            <p:nvPr/>
          </p:nvSpPr>
          <p:spPr>
            <a:xfrm>
              <a:off x="-121900" y="-60933"/>
              <a:ext cx="5686426" cy="1033645"/>
            </a:xfrm>
            <a:custGeom>
              <a:avLst/>
              <a:gdLst/>
              <a:ahLst/>
              <a:cxn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2" name="TextBox 12"/>
            <p:cNvSpPr txBox="1"/>
            <p:nvPr/>
          </p:nvSpPr>
          <p:spPr>
            <a:xfrm>
              <a:off x="121900" y="3783"/>
              <a:ext cx="5442626" cy="968928"/>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pic>
        <p:nvPicPr>
          <p:cNvPr id="16" name="Picture 15">
            <a:extLst>
              <a:ext uri="{FF2B5EF4-FFF2-40B4-BE49-F238E27FC236}">
                <a16:creationId xmlns:a16="http://schemas.microsoft.com/office/drawing/2014/main" id="{494772F7-5ECF-EB80-250C-838D9135AF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11799" y="1256575"/>
            <a:ext cx="6022142" cy="90332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E748-67E3-EC44-1F41-6577A0C1CA4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0DB59EF-0B2F-A383-E927-98186E340B5D}"/>
              </a:ext>
            </a:extLst>
          </p:cNvPr>
          <p:cNvGrpSpPr/>
          <p:nvPr/>
        </p:nvGrpSpPr>
        <p:grpSpPr>
          <a:xfrm>
            <a:off x="520313" y="336491"/>
            <a:ext cx="16851037" cy="1876775"/>
            <a:chOff x="-397711" y="-34317"/>
            <a:chExt cx="22218411" cy="2368790"/>
          </a:xfrm>
        </p:grpSpPr>
        <p:sp>
          <p:nvSpPr>
            <p:cNvPr id="3" name="Freeform 3">
              <a:extLst>
                <a:ext uri="{FF2B5EF4-FFF2-40B4-BE49-F238E27FC236}">
                  <a16:creationId xmlns:a16="http://schemas.microsoft.com/office/drawing/2014/main" id="{3E9DCF7A-E4B0-5D31-5925-7B5A1DBD465A}"/>
                </a:ext>
              </a:extLst>
            </p:cNvPr>
            <p:cNvSpPr/>
            <p:nvPr/>
          </p:nvSpPr>
          <p:spPr>
            <a:xfrm>
              <a:off x="-397711" y="5147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sp>
        <p:sp>
          <p:nvSpPr>
            <p:cNvPr id="4" name="TextBox 4">
              <a:extLst>
                <a:ext uri="{FF2B5EF4-FFF2-40B4-BE49-F238E27FC236}">
                  <a16:creationId xmlns:a16="http://schemas.microsoft.com/office/drawing/2014/main" id="{34C8448E-0902-0EBC-CA4B-623F1FF7C850}"/>
                </a:ext>
              </a:extLst>
            </p:cNvPr>
            <p:cNvSpPr txBox="1"/>
            <p:nvPr/>
          </p:nvSpPr>
          <p:spPr>
            <a:xfrm>
              <a:off x="121900" y="-34317"/>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CONCLUSION</a:t>
              </a:r>
              <a:r>
                <a:rPr lang="en-US" sz="4500" b="1" dirty="0">
                  <a:solidFill>
                    <a:srgbClr val="000000"/>
                  </a:solidFill>
                  <a:latin typeface="Arial MT Pro Bold"/>
                  <a:ea typeface="Arial MT Pro Bold"/>
                  <a:cs typeface="Arial MT Pro Bold"/>
                  <a:sym typeface="Arial MT Pro Bold"/>
                </a:rPr>
                <a:t> </a:t>
              </a:r>
            </a:p>
          </p:txBody>
        </p:sp>
      </p:grpSp>
      <p:sp>
        <p:nvSpPr>
          <p:cNvPr id="5" name="Freeform 5">
            <a:extLst>
              <a:ext uri="{FF2B5EF4-FFF2-40B4-BE49-F238E27FC236}">
                <a16:creationId xmlns:a16="http://schemas.microsoft.com/office/drawing/2014/main" id="{BEF1D70F-D96E-4BC1-B942-94F85E77A476}"/>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7235D43B-ADBE-5CD8-35BD-42EA9DB526A6}"/>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a:extLst>
              <a:ext uri="{FF2B5EF4-FFF2-40B4-BE49-F238E27FC236}">
                <a16:creationId xmlns:a16="http://schemas.microsoft.com/office/drawing/2014/main" id="{9D2F3CC6-6E56-1806-C3B8-37F98E8D104C}"/>
              </a:ext>
            </a:extLst>
          </p:cNvPr>
          <p:cNvGrpSpPr/>
          <p:nvPr/>
        </p:nvGrpSpPr>
        <p:grpSpPr>
          <a:xfrm>
            <a:off x="1233315" y="2362045"/>
            <a:ext cx="15603300" cy="6786450"/>
            <a:chOff x="121900" y="60933"/>
            <a:chExt cx="20560600" cy="8926733"/>
          </a:xfrm>
        </p:grpSpPr>
        <p:sp>
          <p:nvSpPr>
            <p:cNvPr id="8" name="Freeform 8">
              <a:extLst>
                <a:ext uri="{FF2B5EF4-FFF2-40B4-BE49-F238E27FC236}">
                  <a16:creationId xmlns:a16="http://schemas.microsoft.com/office/drawing/2014/main" id="{07A3502B-4933-54FF-B43C-C04D2A9385BA}"/>
                </a:ext>
              </a:extLst>
            </p:cNvPr>
            <p:cNvSpPr/>
            <p:nvPr/>
          </p:nvSpPr>
          <p:spPr>
            <a:xfrm>
              <a:off x="-121900" y="-60933"/>
              <a:ext cx="20804400" cy="9048600"/>
            </a:xfrm>
            <a:custGeom>
              <a:avLst/>
              <a:gdLst/>
              <a:ahLst/>
              <a:cxnLst/>
              <a:rect l="l" t="t" r="r" b="b"/>
              <a:pathLst>
                <a:path w="20804400" h="9048600">
                  <a:moveTo>
                    <a:pt x="0" y="0"/>
                  </a:moveTo>
                  <a:lnTo>
                    <a:pt x="20804400" y="0"/>
                  </a:lnTo>
                  <a:lnTo>
                    <a:pt x="20804400" y="9048600"/>
                  </a:lnTo>
                  <a:lnTo>
                    <a:pt x="0" y="9048600"/>
                  </a:lnTo>
                  <a:close/>
                </a:path>
              </a:pathLst>
            </a:custGeom>
            <a:solidFill>
              <a:srgbClr val="000000">
                <a:alpha val="0"/>
              </a:srgbClr>
            </a:solidFill>
          </p:spPr>
        </p:sp>
        <p:sp>
          <p:nvSpPr>
            <p:cNvPr id="9" name="TextBox 9">
              <a:extLst>
                <a:ext uri="{FF2B5EF4-FFF2-40B4-BE49-F238E27FC236}">
                  <a16:creationId xmlns:a16="http://schemas.microsoft.com/office/drawing/2014/main" id="{8620EDA5-DE4B-5375-A968-D235BA0CFAA9}"/>
                </a:ext>
              </a:extLst>
            </p:cNvPr>
            <p:cNvSpPr txBox="1"/>
            <p:nvPr/>
          </p:nvSpPr>
          <p:spPr>
            <a:xfrm>
              <a:off x="121900" y="-262917"/>
              <a:ext cx="20560600" cy="9250583"/>
            </a:xfrm>
            <a:prstGeom prst="rect">
              <a:avLst/>
            </a:prstGeom>
          </p:spPr>
          <p:txBody>
            <a:bodyPr lIns="0" tIns="0" rIns="0" bIns="0" rtlCol="0" anchor="ctr"/>
            <a:lstStyle/>
            <a:p>
              <a:pPr algn="just"/>
              <a:r>
                <a:rPr lang="en-US" sz="4400" dirty="0">
                  <a:latin typeface="Times New Roman" panose="02020603050405020304" pitchFamily="18" charset="0"/>
                  <a:cs typeface="Times New Roman" panose="02020603050405020304" pitchFamily="18" charset="0"/>
                </a:rPr>
                <a:t>The Smart Water Tank Level Monitoring and Usage System is an efficient and user-friendly solution for monitoring and controlling water levels automatically. The system helps prevent water overflow, reduces water wastage, and minimizes manual effort by automatically controlling the motor based on tank water level. It also provides alert notifications and maintains water usage history for better monitoring and management. Overall, the project improves efficient water utilization and can be further developed into a real-time IoT-based smart water management system.</a:t>
              </a:r>
              <a:endParaRPr lang="en-US" sz="4200" dirty="0">
                <a:solidFill>
                  <a:srgbClr val="000000"/>
                </a:solidFill>
                <a:latin typeface="Times New Roman" panose="02020603050405020304" pitchFamily="18" charset="0"/>
                <a:ea typeface="Calibri (MS)"/>
                <a:cs typeface="Times New Roman" panose="02020603050405020304" pitchFamily="18" charset="0"/>
                <a:sym typeface="Calibri (MS)"/>
              </a:endParaRPr>
            </a:p>
          </p:txBody>
        </p:sp>
      </p:grpSp>
      <p:grpSp>
        <p:nvGrpSpPr>
          <p:cNvPr id="10" name="Group 10">
            <a:extLst>
              <a:ext uri="{FF2B5EF4-FFF2-40B4-BE49-F238E27FC236}">
                <a16:creationId xmlns:a16="http://schemas.microsoft.com/office/drawing/2014/main" id="{028CE422-998E-DB2F-45B7-D8795724BCBA}"/>
              </a:ext>
            </a:extLst>
          </p:cNvPr>
          <p:cNvGrpSpPr/>
          <p:nvPr/>
        </p:nvGrpSpPr>
        <p:grpSpPr>
          <a:xfrm>
            <a:off x="1028700" y="9258300"/>
            <a:ext cx="4264820" cy="821532"/>
            <a:chOff x="121900" y="60933"/>
            <a:chExt cx="5442626" cy="911778"/>
          </a:xfrm>
        </p:grpSpPr>
        <p:sp>
          <p:nvSpPr>
            <p:cNvPr id="11" name="Freeform 11">
              <a:extLst>
                <a:ext uri="{FF2B5EF4-FFF2-40B4-BE49-F238E27FC236}">
                  <a16:creationId xmlns:a16="http://schemas.microsoft.com/office/drawing/2014/main" id="{4A8A1B08-D024-0206-AE48-44A48BEDAB20}"/>
                </a:ext>
              </a:extLst>
            </p:cNvPr>
            <p:cNvSpPr/>
            <p:nvPr/>
          </p:nvSpPr>
          <p:spPr>
            <a:xfrm>
              <a:off x="-121900" y="-60933"/>
              <a:ext cx="5686426" cy="1033645"/>
            </a:xfrm>
            <a:custGeom>
              <a:avLst/>
              <a:gdLst/>
              <a:ahLst/>
              <a:cxn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2" name="TextBox 12">
              <a:extLst>
                <a:ext uri="{FF2B5EF4-FFF2-40B4-BE49-F238E27FC236}">
                  <a16:creationId xmlns:a16="http://schemas.microsoft.com/office/drawing/2014/main" id="{45B41D89-2D3C-C246-BE8C-181B0F8E88D1}"/>
                </a:ext>
              </a:extLst>
            </p:cNvPr>
            <p:cNvSpPr txBox="1"/>
            <p:nvPr/>
          </p:nvSpPr>
          <p:spPr>
            <a:xfrm>
              <a:off x="121900" y="3783"/>
              <a:ext cx="5442626" cy="968928"/>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Tree>
    <p:extLst>
      <p:ext uri="{BB962C8B-B14F-4D97-AF65-F5344CB8AC3E}">
        <p14:creationId xmlns:p14="http://schemas.microsoft.com/office/powerpoint/2010/main" val="3859120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D5515-8D9C-1B7D-9796-0231B3FE2E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7ED37F-5823-ACDE-C6E4-AD8B9D8A1B4E}"/>
              </a:ext>
            </a:extLst>
          </p:cNvPr>
          <p:cNvGrpSpPr/>
          <p:nvPr/>
        </p:nvGrpSpPr>
        <p:grpSpPr>
          <a:xfrm>
            <a:off x="457070" y="114300"/>
            <a:ext cx="16914281" cy="2009908"/>
            <a:chOff x="-481098" y="-314758"/>
            <a:chExt cx="22301799" cy="2536825"/>
          </a:xfrm>
        </p:grpSpPr>
        <p:sp>
          <p:nvSpPr>
            <p:cNvPr id="3" name="Freeform 3">
              <a:extLst>
                <a:ext uri="{FF2B5EF4-FFF2-40B4-BE49-F238E27FC236}">
                  <a16:creationId xmlns:a16="http://schemas.microsoft.com/office/drawing/2014/main" id="{AC66BADD-37E0-8603-F139-54CA061172F2}"/>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dirty="0"/>
            </a:p>
          </p:txBody>
        </p:sp>
        <p:sp>
          <p:nvSpPr>
            <p:cNvPr id="4" name="TextBox 4">
              <a:extLst>
                <a:ext uri="{FF2B5EF4-FFF2-40B4-BE49-F238E27FC236}">
                  <a16:creationId xmlns:a16="http://schemas.microsoft.com/office/drawing/2014/main" id="{8831A3CA-EEA8-3195-0867-781098E1B450}"/>
                </a:ext>
              </a:extLst>
            </p:cNvPr>
            <p:cNvSpPr txBox="1"/>
            <p:nvPr/>
          </p:nvSpPr>
          <p:spPr>
            <a:xfrm>
              <a:off x="-481098" y="-314758"/>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PROGRAM </a:t>
              </a:r>
            </a:p>
          </p:txBody>
        </p:sp>
      </p:grpSp>
      <p:sp>
        <p:nvSpPr>
          <p:cNvPr id="5" name="Freeform 5">
            <a:extLst>
              <a:ext uri="{FF2B5EF4-FFF2-40B4-BE49-F238E27FC236}">
                <a16:creationId xmlns:a16="http://schemas.microsoft.com/office/drawing/2014/main" id="{EB94A96A-EA24-1570-F7BF-D8E1FE296E74}"/>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9CA101DE-7E97-27D7-0D0A-9FD51EFE4ED8}"/>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a:extLst>
              <a:ext uri="{FF2B5EF4-FFF2-40B4-BE49-F238E27FC236}">
                <a16:creationId xmlns:a16="http://schemas.microsoft.com/office/drawing/2014/main" id="{AF50661A-9E18-3C65-B135-190EFA8C2324}"/>
              </a:ext>
            </a:extLst>
          </p:cNvPr>
          <p:cNvGrpSpPr/>
          <p:nvPr/>
        </p:nvGrpSpPr>
        <p:grpSpPr>
          <a:xfrm>
            <a:off x="1310850" y="1750275"/>
            <a:ext cx="15603300" cy="6786450"/>
            <a:chOff x="121900" y="60933"/>
            <a:chExt cx="20560600" cy="8926733"/>
          </a:xfrm>
        </p:grpSpPr>
        <p:sp>
          <p:nvSpPr>
            <p:cNvPr id="8" name="Freeform 8">
              <a:extLst>
                <a:ext uri="{FF2B5EF4-FFF2-40B4-BE49-F238E27FC236}">
                  <a16:creationId xmlns:a16="http://schemas.microsoft.com/office/drawing/2014/main" id="{DB6AE467-CF2B-A199-2C89-802AE35D9465}"/>
                </a:ext>
              </a:extLst>
            </p:cNvPr>
            <p:cNvSpPr/>
            <p:nvPr/>
          </p:nvSpPr>
          <p:spPr>
            <a:xfrm>
              <a:off x="-121900" y="-60933"/>
              <a:ext cx="20804400" cy="9048600"/>
            </a:xfrm>
            <a:custGeom>
              <a:avLst/>
              <a:gdLst/>
              <a:ahLst/>
              <a:cxnLst/>
              <a:rect l="l" t="t" r="r" b="b"/>
              <a:pathLst>
                <a:path w="20804400" h="9048600">
                  <a:moveTo>
                    <a:pt x="0" y="0"/>
                  </a:moveTo>
                  <a:lnTo>
                    <a:pt x="20804400" y="0"/>
                  </a:lnTo>
                  <a:lnTo>
                    <a:pt x="20804400" y="9048600"/>
                  </a:lnTo>
                  <a:lnTo>
                    <a:pt x="0" y="9048600"/>
                  </a:lnTo>
                  <a:close/>
                </a:path>
              </a:pathLst>
            </a:custGeom>
            <a:solidFill>
              <a:srgbClr val="000000">
                <a:alpha val="0"/>
              </a:srgbClr>
            </a:solidFill>
          </p:spPr>
        </p:sp>
        <p:sp>
          <p:nvSpPr>
            <p:cNvPr id="9" name="TextBox 9">
              <a:extLst>
                <a:ext uri="{FF2B5EF4-FFF2-40B4-BE49-F238E27FC236}">
                  <a16:creationId xmlns:a16="http://schemas.microsoft.com/office/drawing/2014/main" id="{52CE704A-5C9B-0D00-59A6-05FE0F210414}"/>
                </a:ext>
              </a:extLst>
            </p:cNvPr>
            <p:cNvSpPr txBox="1"/>
            <p:nvPr/>
          </p:nvSpPr>
          <p:spPr>
            <a:xfrm>
              <a:off x="121900" y="-262917"/>
              <a:ext cx="20560600" cy="9250583"/>
            </a:xfrm>
            <a:prstGeom prst="rect">
              <a:avLst/>
            </a:prstGeom>
          </p:spPr>
          <p:txBody>
            <a:bodyPr lIns="0" tIns="0" rIns="0" bIns="0" rtlCol="0" anchor="ctr"/>
            <a:lstStyle/>
            <a:p>
              <a:pPr algn="just">
                <a:lnSpc>
                  <a:spcPts val="7560"/>
                </a:lnSpc>
              </a:pPr>
              <a:endParaRPr lang="en-US" sz="4200" dirty="0">
                <a:solidFill>
                  <a:srgbClr val="000000"/>
                </a:solidFill>
                <a:latin typeface="Calibri (MS)"/>
                <a:ea typeface="Calibri (MS)"/>
                <a:cs typeface="Calibri (MS)"/>
                <a:sym typeface="Calibri (MS)"/>
              </a:endParaRPr>
            </a:p>
          </p:txBody>
        </p:sp>
      </p:grpSp>
      <p:grpSp>
        <p:nvGrpSpPr>
          <p:cNvPr id="10" name="Group 10">
            <a:extLst>
              <a:ext uri="{FF2B5EF4-FFF2-40B4-BE49-F238E27FC236}">
                <a16:creationId xmlns:a16="http://schemas.microsoft.com/office/drawing/2014/main" id="{26221F60-D982-C7EF-784D-4A501D833255}"/>
              </a:ext>
            </a:extLst>
          </p:cNvPr>
          <p:cNvGrpSpPr/>
          <p:nvPr/>
        </p:nvGrpSpPr>
        <p:grpSpPr>
          <a:xfrm>
            <a:off x="1028700" y="9258300"/>
            <a:ext cx="4264820" cy="821532"/>
            <a:chOff x="121900" y="60933"/>
            <a:chExt cx="5442626" cy="911778"/>
          </a:xfrm>
        </p:grpSpPr>
        <p:sp>
          <p:nvSpPr>
            <p:cNvPr id="11" name="Freeform 11">
              <a:extLst>
                <a:ext uri="{FF2B5EF4-FFF2-40B4-BE49-F238E27FC236}">
                  <a16:creationId xmlns:a16="http://schemas.microsoft.com/office/drawing/2014/main" id="{377CC084-D7FA-56C6-2CA3-9F676CE81EAB}"/>
                </a:ext>
              </a:extLst>
            </p:cNvPr>
            <p:cNvSpPr/>
            <p:nvPr/>
          </p:nvSpPr>
          <p:spPr>
            <a:xfrm>
              <a:off x="-121900" y="-60933"/>
              <a:ext cx="5686426" cy="1033645"/>
            </a:xfrm>
            <a:custGeom>
              <a:avLst/>
              <a:gdLst/>
              <a:ahLst/>
              <a:cxn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2" name="TextBox 12">
              <a:extLst>
                <a:ext uri="{FF2B5EF4-FFF2-40B4-BE49-F238E27FC236}">
                  <a16:creationId xmlns:a16="http://schemas.microsoft.com/office/drawing/2014/main" id="{084528EE-FAA2-51EA-3E7D-CD87338BEB08}"/>
                </a:ext>
              </a:extLst>
            </p:cNvPr>
            <p:cNvSpPr txBox="1"/>
            <p:nvPr/>
          </p:nvSpPr>
          <p:spPr>
            <a:xfrm>
              <a:off x="121900" y="3783"/>
              <a:ext cx="5442626" cy="968928"/>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3" name="TextBox 12">
            <a:extLst>
              <a:ext uri="{FF2B5EF4-FFF2-40B4-BE49-F238E27FC236}">
                <a16:creationId xmlns:a16="http://schemas.microsoft.com/office/drawing/2014/main" id="{CEA229BF-F8EB-6B84-7713-807D04679FC4}"/>
              </a:ext>
            </a:extLst>
          </p:cNvPr>
          <p:cNvSpPr txBox="1"/>
          <p:nvPr/>
        </p:nvSpPr>
        <p:spPr>
          <a:xfrm>
            <a:off x="1252539" y="1902016"/>
            <a:ext cx="10972800" cy="7755969"/>
          </a:xfrm>
          <a:prstGeom prst="rect">
            <a:avLst/>
          </a:prstGeom>
          <a:noFill/>
        </p:spPr>
        <p:txBody>
          <a:bodyPr wrap="square" rtlCol="0">
            <a:spAutoFit/>
          </a:bodyPr>
          <a:lstStyle/>
          <a:p>
            <a:r>
              <a:rPr lang="en-IN" sz="2400" b="1" dirty="0"/>
              <a:t>import random </a:t>
            </a:r>
          </a:p>
          <a:p>
            <a:r>
              <a:rPr lang="en-IN" sz="2400" b="1" dirty="0"/>
              <a:t>import time</a:t>
            </a:r>
          </a:p>
          <a:p>
            <a:r>
              <a:rPr lang="en-IN" sz="2400" b="1" dirty="0" err="1"/>
              <a:t>fromdatetime</a:t>
            </a:r>
            <a:r>
              <a:rPr lang="en-IN" sz="2400" b="1" dirty="0"/>
              <a:t> import datetime</a:t>
            </a:r>
          </a:p>
          <a:p>
            <a:r>
              <a:rPr lang="en-IN" sz="2400" b="1" dirty="0"/>
              <a:t>LOW = 30</a:t>
            </a:r>
          </a:p>
          <a:p>
            <a:r>
              <a:rPr lang="en-IN" sz="2400" b="1" dirty="0"/>
              <a:t>HIGH = 90</a:t>
            </a:r>
          </a:p>
          <a:p>
            <a:r>
              <a:rPr lang="en-IN" sz="2400" b="1" dirty="0"/>
              <a:t># SENSOR (SIMULATED) </a:t>
            </a:r>
          </a:p>
          <a:p>
            <a:r>
              <a:rPr lang="en-IN" sz="2400" b="1" dirty="0"/>
              <a:t>def </a:t>
            </a:r>
            <a:r>
              <a:rPr lang="en-IN" sz="2400" b="1" dirty="0" err="1"/>
              <a:t>read_sensor</a:t>
            </a:r>
            <a:r>
              <a:rPr lang="en-IN" sz="2400" b="1" dirty="0"/>
              <a:t>():</a:t>
            </a:r>
          </a:p>
          <a:p>
            <a:r>
              <a:rPr lang="en-IN" sz="2400" b="1" dirty="0"/>
              <a:t>return </a:t>
            </a:r>
            <a:r>
              <a:rPr lang="en-IN" sz="2400" b="1" dirty="0" err="1"/>
              <a:t>random.randint</a:t>
            </a:r>
            <a:r>
              <a:rPr lang="en-IN" sz="2400" b="1" dirty="0"/>
              <a:t>(20, 80)</a:t>
            </a:r>
          </a:p>
          <a:p>
            <a:r>
              <a:rPr lang="en-IN" sz="2400" b="1" dirty="0" err="1"/>
              <a:t>water_level</a:t>
            </a:r>
            <a:r>
              <a:rPr lang="en-IN" sz="2400" b="1" dirty="0"/>
              <a:t> = </a:t>
            </a:r>
            <a:r>
              <a:rPr lang="en-IN" sz="2400" b="1" dirty="0" err="1"/>
              <a:t>read_sensor</a:t>
            </a:r>
            <a:r>
              <a:rPr lang="en-IN" sz="2400" b="1" dirty="0"/>
              <a:t>() </a:t>
            </a:r>
          </a:p>
          <a:p>
            <a:r>
              <a:rPr lang="en-IN" sz="2400" b="1" dirty="0" err="1"/>
              <a:t>motor_on</a:t>
            </a:r>
            <a:r>
              <a:rPr lang="en-IN" sz="2400" b="1" dirty="0"/>
              <a:t> = False </a:t>
            </a:r>
          </a:p>
          <a:p>
            <a:r>
              <a:rPr lang="en-IN" sz="2400" b="1" dirty="0" err="1"/>
              <a:t>total_usage</a:t>
            </a:r>
            <a:r>
              <a:rPr lang="en-IN" sz="2400" b="1" dirty="0"/>
              <a:t> = 0 </a:t>
            </a:r>
          </a:p>
          <a:p>
            <a:r>
              <a:rPr lang="en-IN" sz="2400" b="1" dirty="0" err="1"/>
              <a:t>usage_history</a:t>
            </a:r>
            <a:r>
              <a:rPr lang="en-IN" sz="2400" b="1" dirty="0"/>
              <a:t> = [] </a:t>
            </a:r>
          </a:p>
          <a:p>
            <a:r>
              <a:rPr lang="en-IN" sz="2400" b="1" dirty="0" err="1"/>
              <a:t>fill_history</a:t>
            </a:r>
            <a:r>
              <a:rPr lang="en-IN" sz="2400" b="1" dirty="0"/>
              <a:t> = []</a:t>
            </a:r>
          </a:p>
          <a:p>
            <a:r>
              <a:rPr lang="en-IN" sz="2400" b="1" dirty="0"/>
              <a:t>def header():</a:t>
            </a:r>
          </a:p>
          <a:p>
            <a:r>
              <a:rPr lang="en-IN" sz="2400" b="1" dirty="0"/>
              <a:t>now = </a:t>
            </a:r>
            <a:r>
              <a:rPr lang="en-IN" sz="2400" b="1" dirty="0" err="1"/>
              <a:t>datetime.now</a:t>
            </a:r>
            <a:r>
              <a:rPr lang="en-IN" sz="2400" b="1" dirty="0"/>
              <a:t>() </a:t>
            </a:r>
          </a:p>
          <a:p>
            <a:r>
              <a:rPr lang="en-IN" sz="2400" b="1" dirty="0"/>
              <a:t>print("\n" + "=" * 50)</a:t>
            </a:r>
          </a:p>
          <a:p>
            <a:r>
              <a:rPr lang="en-IN" sz="2400" b="1" dirty="0"/>
              <a:t>print("💧 SMART WATER TANK SYSTEM 💧")</a:t>
            </a:r>
          </a:p>
          <a:p>
            <a:r>
              <a:rPr lang="en-IN" sz="2400" b="1" dirty="0"/>
              <a:t>print("📅 Date:", </a:t>
            </a:r>
            <a:r>
              <a:rPr lang="en-IN" sz="2400" b="1" dirty="0" err="1"/>
              <a:t>now.strftime</a:t>
            </a:r>
            <a:r>
              <a:rPr lang="en-IN" sz="2400" b="1" dirty="0"/>
              <a:t>("%d-%m-%Y"))</a:t>
            </a:r>
          </a:p>
          <a:p>
            <a:r>
              <a:rPr lang="en-IN" sz="2400" b="1" dirty="0"/>
              <a:t>print("🕒 Time:", </a:t>
            </a:r>
            <a:r>
              <a:rPr lang="en-IN" sz="2400" b="1" dirty="0" err="1"/>
              <a:t>now.strftime</a:t>
            </a:r>
            <a:r>
              <a:rPr lang="en-IN" sz="2400" b="1" dirty="0"/>
              <a:t>("%H:%M:%S")) </a:t>
            </a:r>
          </a:p>
          <a:p>
            <a:r>
              <a:rPr lang="en-IN" sz="2400" b="1" dirty="0"/>
              <a:t>print("=" * 50)</a:t>
            </a:r>
          </a:p>
          <a:p>
            <a:endParaRPr lang="en-IN" b="1" dirty="0"/>
          </a:p>
        </p:txBody>
      </p:sp>
      <p:cxnSp>
        <p:nvCxnSpPr>
          <p:cNvPr id="14" name="Straight Connector 13">
            <a:extLst>
              <a:ext uri="{FF2B5EF4-FFF2-40B4-BE49-F238E27FC236}">
                <a16:creationId xmlns:a16="http://schemas.microsoft.com/office/drawing/2014/main" id="{6B6F7FDE-ABD7-D764-2D43-C520897773C5}"/>
              </a:ext>
            </a:extLst>
          </p:cNvPr>
          <p:cNvCxnSpPr>
            <a:cxnSpLocks/>
          </p:cNvCxnSpPr>
          <p:nvPr/>
        </p:nvCxnSpPr>
        <p:spPr>
          <a:xfrm>
            <a:off x="8153400" y="1504072"/>
            <a:ext cx="0" cy="9270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ED1ED84-EC28-6D74-8C6B-12B174482A01}"/>
              </a:ext>
            </a:extLst>
          </p:cNvPr>
          <p:cNvSpPr txBox="1"/>
          <p:nvPr/>
        </p:nvSpPr>
        <p:spPr>
          <a:xfrm>
            <a:off x="9355232" y="1504072"/>
            <a:ext cx="8534399" cy="8217634"/>
          </a:xfrm>
          <a:prstGeom prst="rect">
            <a:avLst/>
          </a:prstGeom>
          <a:noFill/>
        </p:spPr>
        <p:txBody>
          <a:bodyPr wrap="square" rtlCol="0">
            <a:spAutoFit/>
          </a:bodyPr>
          <a:lstStyle/>
          <a:p>
            <a:r>
              <a:rPr lang="en-IN" sz="2400" b="1" dirty="0"/>
              <a:t># MODULE 1:MONITORING</a:t>
            </a:r>
          </a:p>
          <a:p>
            <a:endParaRPr lang="en-IN" sz="2400" b="1" dirty="0"/>
          </a:p>
          <a:p>
            <a:r>
              <a:rPr lang="en-IN" sz="2400" b="1" dirty="0"/>
              <a:t>def monitor():</a:t>
            </a:r>
          </a:p>
          <a:p>
            <a:r>
              <a:rPr lang="en-IN" sz="2400" b="1" dirty="0"/>
              <a:t>print("\n📡 SENSOR STATUS") </a:t>
            </a:r>
          </a:p>
          <a:p>
            <a:r>
              <a:rPr lang="en-IN" sz="2400" b="1" dirty="0"/>
              <a:t>print(</a:t>
            </a:r>
            <a:r>
              <a:rPr lang="en-IN" sz="2400" b="1" dirty="0" err="1"/>
              <a:t>f"Water</a:t>
            </a:r>
            <a:r>
              <a:rPr lang="en-IN" sz="2400" b="1" dirty="0"/>
              <a:t> Level : {</a:t>
            </a:r>
            <a:r>
              <a:rPr lang="en-IN" sz="2400" b="1" dirty="0" err="1"/>
              <a:t>water_level</a:t>
            </a:r>
            <a:r>
              <a:rPr lang="en-IN" sz="2400" b="1" dirty="0"/>
              <a:t>}%") </a:t>
            </a:r>
          </a:p>
          <a:p>
            <a:r>
              <a:rPr lang="en-IN" sz="2400" b="1" dirty="0"/>
              <a:t>return </a:t>
            </a:r>
            <a:r>
              <a:rPr lang="en-IN" sz="2400" b="1" dirty="0" err="1"/>
              <a:t>water_level</a:t>
            </a:r>
            <a:endParaRPr lang="en-IN" sz="2400" b="1" dirty="0"/>
          </a:p>
          <a:p>
            <a:endParaRPr lang="en-IN" sz="2400" b="1" dirty="0"/>
          </a:p>
          <a:p>
            <a:r>
              <a:rPr lang="en-IN" sz="2400" b="1" dirty="0"/>
              <a:t># MODULE 2: MOTOR CONTROL </a:t>
            </a:r>
          </a:p>
          <a:p>
            <a:endParaRPr lang="en-IN" sz="2400" b="1" dirty="0"/>
          </a:p>
          <a:p>
            <a:r>
              <a:rPr lang="en-IN" sz="2400" b="1" dirty="0"/>
              <a:t>def control(level): </a:t>
            </a:r>
          </a:p>
          <a:p>
            <a:r>
              <a:rPr lang="en-IN" sz="2400" b="1" dirty="0"/>
              <a:t>global </a:t>
            </a:r>
            <a:r>
              <a:rPr lang="en-IN" sz="2400" b="1" dirty="0" err="1"/>
              <a:t>motor_on</a:t>
            </a:r>
            <a:endParaRPr lang="en-IN" sz="2400" b="1" dirty="0"/>
          </a:p>
          <a:p>
            <a:r>
              <a:rPr lang="en-IN" sz="2400" b="1" dirty="0"/>
              <a:t>print("\n⚙️ MOTOR CONTROL") if level</a:t>
            </a:r>
          </a:p>
          <a:p>
            <a:r>
              <a:rPr lang="en-IN" sz="2400" b="1" dirty="0"/>
              <a:t>&lt;= LOW:</a:t>
            </a:r>
          </a:p>
          <a:p>
            <a:r>
              <a:rPr lang="en-IN" sz="2400" b="1" dirty="0" err="1"/>
              <a:t>motor_on</a:t>
            </a:r>
            <a:r>
              <a:rPr lang="en-IN" sz="2400" b="1" dirty="0"/>
              <a:t> = True</a:t>
            </a:r>
          </a:p>
          <a:p>
            <a:endParaRPr lang="en-IN" sz="2400" b="1" dirty="0"/>
          </a:p>
          <a:p>
            <a:r>
              <a:rPr lang="en-IN" sz="2400" b="1" dirty="0"/>
              <a:t>print("⚠️ Low Level → Motor ON")</a:t>
            </a:r>
          </a:p>
          <a:p>
            <a:r>
              <a:rPr lang="en-IN" sz="2400" b="1" dirty="0" err="1"/>
              <a:t>elif</a:t>
            </a:r>
            <a:r>
              <a:rPr lang="en-IN" sz="2400" b="1" dirty="0"/>
              <a:t> level &gt;= HIGH: </a:t>
            </a:r>
          </a:p>
          <a:p>
            <a:r>
              <a:rPr lang="en-IN" sz="2400" b="1" dirty="0" err="1"/>
              <a:t>motor_on</a:t>
            </a:r>
            <a:r>
              <a:rPr lang="en-IN" sz="2400" b="1" dirty="0"/>
              <a:t> = False</a:t>
            </a:r>
          </a:p>
          <a:p>
            <a:r>
              <a:rPr lang="en-IN" sz="2400" b="1" dirty="0"/>
              <a:t>print("✅ Tank Full→ Motor OFF")</a:t>
            </a:r>
          </a:p>
          <a:p>
            <a:r>
              <a:rPr lang="en-IN" sz="2400" b="1" dirty="0"/>
              <a:t>else:</a:t>
            </a:r>
          </a:p>
          <a:p>
            <a:r>
              <a:rPr lang="en-IN" sz="2400" b="1" dirty="0"/>
              <a:t>print("✔️ Level Normal")</a:t>
            </a:r>
          </a:p>
          <a:p>
            <a:r>
              <a:rPr lang="en-US" sz="2400" b="1" dirty="0"/>
              <a:t> </a:t>
            </a:r>
            <a:endParaRPr lang="en-IN" sz="2400" b="1" dirty="0"/>
          </a:p>
        </p:txBody>
      </p:sp>
    </p:spTree>
    <p:extLst>
      <p:ext uri="{BB962C8B-B14F-4D97-AF65-F5344CB8AC3E}">
        <p14:creationId xmlns:p14="http://schemas.microsoft.com/office/powerpoint/2010/main" val="2656362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DCCF3-94D4-BC1A-A58C-DB295166BC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30271CD-D7F1-3F67-2E98-0343EFA63C11}"/>
              </a:ext>
            </a:extLst>
          </p:cNvPr>
          <p:cNvGrpSpPr/>
          <p:nvPr/>
        </p:nvGrpSpPr>
        <p:grpSpPr>
          <a:xfrm>
            <a:off x="457070" y="114300"/>
            <a:ext cx="16914281" cy="2009908"/>
            <a:chOff x="-481098" y="-314758"/>
            <a:chExt cx="22301799" cy="2536825"/>
          </a:xfrm>
        </p:grpSpPr>
        <p:sp>
          <p:nvSpPr>
            <p:cNvPr id="3" name="Freeform 3">
              <a:extLst>
                <a:ext uri="{FF2B5EF4-FFF2-40B4-BE49-F238E27FC236}">
                  <a16:creationId xmlns:a16="http://schemas.microsoft.com/office/drawing/2014/main" id="{0E642DBA-8441-55C9-1BD7-CA14ED0C0A84}"/>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dirty="0"/>
            </a:p>
          </p:txBody>
        </p:sp>
        <p:sp>
          <p:nvSpPr>
            <p:cNvPr id="4" name="TextBox 4">
              <a:extLst>
                <a:ext uri="{FF2B5EF4-FFF2-40B4-BE49-F238E27FC236}">
                  <a16:creationId xmlns:a16="http://schemas.microsoft.com/office/drawing/2014/main" id="{91434FDF-7E1E-E966-3B29-8497D425C1EB}"/>
                </a:ext>
              </a:extLst>
            </p:cNvPr>
            <p:cNvSpPr txBox="1"/>
            <p:nvPr/>
          </p:nvSpPr>
          <p:spPr>
            <a:xfrm>
              <a:off x="-481098" y="-314758"/>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PROGRAM </a:t>
              </a:r>
            </a:p>
          </p:txBody>
        </p:sp>
      </p:grpSp>
      <p:sp>
        <p:nvSpPr>
          <p:cNvPr id="5" name="Freeform 5">
            <a:extLst>
              <a:ext uri="{FF2B5EF4-FFF2-40B4-BE49-F238E27FC236}">
                <a16:creationId xmlns:a16="http://schemas.microsoft.com/office/drawing/2014/main" id="{1A649429-3C9B-4F51-21A5-0675E22232C6}"/>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4E02BE18-9633-C477-98D3-6E7C9BA2717F}"/>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a:extLst>
              <a:ext uri="{FF2B5EF4-FFF2-40B4-BE49-F238E27FC236}">
                <a16:creationId xmlns:a16="http://schemas.microsoft.com/office/drawing/2014/main" id="{98CC43AD-7DE2-61B0-E0A4-16DFCBFA9007}"/>
              </a:ext>
            </a:extLst>
          </p:cNvPr>
          <p:cNvGrpSpPr/>
          <p:nvPr/>
        </p:nvGrpSpPr>
        <p:grpSpPr>
          <a:xfrm>
            <a:off x="1310850" y="1750275"/>
            <a:ext cx="15603300" cy="6786450"/>
            <a:chOff x="121900" y="60933"/>
            <a:chExt cx="20560600" cy="8926733"/>
          </a:xfrm>
        </p:grpSpPr>
        <p:sp>
          <p:nvSpPr>
            <p:cNvPr id="8" name="Freeform 8">
              <a:extLst>
                <a:ext uri="{FF2B5EF4-FFF2-40B4-BE49-F238E27FC236}">
                  <a16:creationId xmlns:a16="http://schemas.microsoft.com/office/drawing/2014/main" id="{8F6110D4-3421-9753-5A8D-201D561155BC}"/>
                </a:ext>
              </a:extLst>
            </p:cNvPr>
            <p:cNvSpPr/>
            <p:nvPr/>
          </p:nvSpPr>
          <p:spPr>
            <a:xfrm>
              <a:off x="-121900" y="-60933"/>
              <a:ext cx="20804400" cy="9048600"/>
            </a:xfrm>
            <a:custGeom>
              <a:avLst/>
              <a:gdLst/>
              <a:ahLst/>
              <a:cxnLst/>
              <a:rect l="l" t="t" r="r" b="b"/>
              <a:pathLst>
                <a:path w="20804400" h="9048600">
                  <a:moveTo>
                    <a:pt x="0" y="0"/>
                  </a:moveTo>
                  <a:lnTo>
                    <a:pt x="20804400" y="0"/>
                  </a:lnTo>
                  <a:lnTo>
                    <a:pt x="20804400" y="9048600"/>
                  </a:lnTo>
                  <a:lnTo>
                    <a:pt x="0" y="9048600"/>
                  </a:lnTo>
                  <a:close/>
                </a:path>
              </a:pathLst>
            </a:custGeom>
            <a:solidFill>
              <a:srgbClr val="000000">
                <a:alpha val="0"/>
              </a:srgbClr>
            </a:solidFill>
          </p:spPr>
        </p:sp>
        <p:sp>
          <p:nvSpPr>
            <p:cNvPr id="9" name="TextBox 9">
              <a:extLst>
                <a:ext uri="{FF2B5EF4-FFF2-40B4-BE49-F238E27FC236}">
                  <a16:creationId xmlns:a16="http://schemas.microsoft.com/office/drawing/2014/main" id="{A3ED2A3B-0642-0642-BE3A-2DE4297EADA6}"/>
                </a:ext>
              </a:extLst>
            </p:cNvPr>
            <p:cNvSpPr txBox="1"/>
            <p:nvPr/>
          </p:nvSpPr>
          <p:spPr>
            <a:xfrm>
              <a:off x="121900" y="-262917"/>
              <a:ext cx="20560600" cy="9250583"/>
            </a:xfrm>
            <a:prstGeom prst="rect">
              <a:avLst/>
            </a:prstGeom>
          </p:spPr>
          <p:txBody>
            <a:bodyPr lIns="0" tIns="0" rIns="0" bIns="0" rtlCol="0" anchor="ctr"/>
            <a:lstStyle/>
            <a:p>
              <a:pPr algn="just">
                <a:lnSpc>
                  <a:spcPts val="7560"/>
                </a:lnSpc>
              </a:pPr>
              <a:endParaRPr lang="en-US" sz="4200" dirty="0">
                <a:solidFill>
                  <a:srgbClr val="000000"/>
                </a:solidFill>
                <a:latin typeface="Calibri (MS)"/>
                <a:ea typeface="Calibri (MS)"/>
                <a:cs typeface="Calibri (MS)"/>
                <a:sym typeface="Calibri (MS)"/>
              </a:endParaRPr>
            </a:p>
          </p:txBody>
        </p:sp>
      </p:grpSp>
      <p:grpSp>
        <p:nvGrpSpPr>
          <p:cNvPr id="10" name="Group 10">
            <a:extLst>
              <a:ext uri="{FF2B5EF4-FFF2-40B4-BE49-F238E27FC236}">
                <a16:creationId xmlns:a16="http://schemas.microsoft.com/office/drawing/2014/main" id="{C6A54F36-0FC2-0FC7-CD7D-78B835169252}"/>
              </a:ext>
            </a:extLst>
          </p:cNvPr>
          <p:cNvGrpSpPr/>
          <p:nvPr/>
        </p:nvGrpSpPr>
        <p:grpSpPr>
          <a:xfrm>
            <a:off x="1028700" y="9258300"/>
            <a:ext cx="4264820" cy="821532"/>
            <a:chOff x="121900" y="60933"/>
            <a:chExt cx="5442626" cy="911778"/>
          </a:xfrm>
        </p:grpSpPr>
        <p:sp>
          <p:nvSpPr>
            <p:cNvPr id="11" name="Freeform 11">
              <a:extLst>
                <a:ext uri="{FF2B5EF4-FFF2-40B4-BE49-F238E27FC236}">
                  <a16:creationId xmlns:a16="http://schemas.microsoft.com/office/drawing/2014/main" id="{5E5A4E13-8D61-4D93-EF6E-AFD03C1C8600}"/>
                </a:ext>
              </a:extLst>
            </p:cNvPr>
            <p:cNvSpPr/>
            <p:nvPr/>
          </p:nvSpPr>
          <p:spPr>
            <a:xfrm>
              <a:off x="-121900" y="-60933"/>
              <a:ext cx="5686426" cy="1033645"/>
            </a:xfrm>
            <a:custGeom>
              <a:avLst/>
              <a:gdLst/>
              <a:ahLst/>
              <a:cxn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2" name="TextBox 12">
              <a:extLst>
                <a:ext uri="{FF2B5EF4-FFF2-40B4-BE49-F238E27FC236}">
                  <a16:creationId xmlns:a16="http://schemas.microsoft.com/office/drawing/2014/main" id="{CCCD1CBC-4D41-EAC7-406B-85ECF9A89BA2}"/>
                </a:ext>
              </a:extLst>
            </p:cNvPr>
            <p:cNvSpPr txBox="1"/>
            <p:nvPr/>
          </p:nvSpPr>
          <p:spPr>
            <a:xfrm>
              <a:off x="121900" y="3783"/>
              <a:ext cx="5442626" cy="968928"/>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3" name="TextBox 12">
            <a:extLst>
              <a:ext uri="{FF2B5EF4-FFF2-40B4-BE49-F238E27FC236}">
                <a16:creationId xmlns:a16="http://schemas.microsoft.com/office/drawing/2014/main" id="{9CB4EE86-79BA-FAAE-07E2-7A8CA3AEA4B6}"/>
              </a:ext>
            </a:extLst>
          </p:cNvPr>
          <p:cNvSpPr txBox="1"/>
          <p:nvPr/>
        </p:nvSpPr>
        <p:spPr>
          <a:xfrm>
            <a:off x="646511" y="1913446"/>
            <a:ext cx="10972800" cy="8217634"/>
          </a:xfrm>
          <a:prstGeom prst="rect">
            <a:avLst/>
          </a:prstGeom>
          <a:noFill/>
        </p:spPr>
        <p:txBody>
          <a:bodyPr wrap="square" rtlCol="0">
            <a:spAutoFit/>
          </a:bodyPr>
          <a:lstStyle/>
          <a:p>
            <a:endParaRPr lang="en-IN" sz="2400" b="1" dirty="0"/>
          </a:p>
          <a:p>
            <a:r>
              <a:rPr lang="en-IN" sz="2400" b="1" dirty="0"/>
              <a:t># MODULE 3: USER ACTION + VALIDATION + DATA </a:t>
            </a:r>
          </a:p>
          <a:p>
            <a:endParaRPr lang="en-IN" sz="2400" b="1" dirty="0"/>
          </a:p>
          <a:p>
            <a:r>
              <a:rPr lang="en-IN" sz="2400" b="1" dirty="0"/>
              <a:t>def </a:t>
            </a:r>
            <a:r>
              <a:rPr lang="en-IN" sz="2400" b="1" dirty="0" err="1"/>
              <a:t>user_action</a:t>
            </a:r>
            <a:r>
              <a:rPr lang="en-IN" sz="2400" b="1" dirty="0"/>
              <a:t>():</a:t>
            </a:r>
          </a:p>
          <a:p>
            <a:r>
              <a:rPr lang="en-IN" sz="2400" b="1" dirty="0"/>
              <a:t>global </a:t>
            </a:r>
            <a:r>
              <a:rPr lang="en-IN" sz="2400" b="1" dirty="0" err="1"/>
              <a:t>water_level</a:t>
            </a:r>
            <a:r>
              <a:rPr lang="en-IN" sz="2400" b="1" dirty="0"/>
              <a:t>, </a:t>
            </a:r>
            <a:r>
              <a:rPr lang="en-IN" sz="2400" b="1" dirty="0" err="1"/>
              <a:t>total_usage</a:t>
            </a:r>
            <a:r>
              <a:rPr lang="en-IN" sz="2400" b="1" dirty="0"/>
              <a:t>, </a:t>
            </a:r>
            <a:r>
              <a:rPr lang="en-IN" sz="2400" b="1" dirty="0" err="1"/>
              <a:t>usage_history</a:t>
            </a:r>
            <a:r>
              <a:rPr lang="en-IN" sz="2400" b="1" dirty="0"/>
              <a:t>, </a:t>
            </a:r>
            <a:r>
              <a:rPr lang="en-IN" sz="2400" b="1" dirty="0" err="1"/>
              <a:t>fill_history</a:t>
            </a:r>
            <a:endParaRPr lang="en-IN" sz="2400" b="1" dirty="0"/>
          </a:p>
          <a:p>
            <a:r>
              <a:rPr lang="en-IN" sz="2400" b="1" dirty="0"/>
              <a:t>print("\n👤 USER MENU") </a:t>
            </a:r>
          </a:p>
          <a:p>
            <a:r>
              <a:rPr lang="en-IN" sz="2400" b="1" dirty="0"/>
              <a:t>print("1. Use Water") </a:t>
            </a:r>
          </a:p>
          <a:p>
            <a:r>
              <a:rPr lang="en-IN" sz="2400" b="1" dirty="0"/>
              <a:t>print("2. Fill Tank")</a:t>
            </a:r>
          </a:p>
          <a:p>
            <a:r>
              <a:rPr lang="en-IN" sz="2400" b="1" dirty="0"/>
              <a:t>print("3. View Usage History") </a:t>
            </a:r>
          </a:p>
          <a:p>
            <a:r>
              <a:rPr lang="en-IN" sz="2400" b="1" dirty="0"/>
              <a:t>print("4. View Fill History") </a:t>
            </a:r>
          </a:p>
          <a:p>
            <a:r>
              <a:rPr lang="en-IN" sz="2400" b="1" dirty="0"/>
              <a:t>print("5. Exit")</a:t>
            </a:r>
          </a:p>
          <a:p>
            <a:r>
              <a:rPr lang="en-IN" sz="2400" b="1" dirty="0"/>
              <a:t>choice = input("Enter choice: ") </a:t>
            </a:r>
          </a:p>
          <a:p>
            <a:r>
              <a:rPr lang="en-IN" sz="2400" b="1" dirty="0"/>
              <a:t># -------- USE WATER --------</a:t>
            </a:r>
          </a:p>
          <a:p>
            <a:r>
              <a:rPr lang="en-IN" sz="2400" b="1" dirty="0"/>
              <a:t>if choice == "1":</a:t>
            </a:r>
          </a:p>
          <a:p>
            <a:r>
              <a:rPr lang="en-IN" sz="2400" b="1" dirty="0"/>
              <a:t>used = int(input("Enter water used (%): "))if used &gt; </a:t>
            </a:r>
            <a:r>
              <a:rPr lang="en-IN" sz="2400" b="1" dirty="0" err="1"/>
              <a:t>water_level</a:t>
            </a:r>
            <a:r>
              <a:rPr lang="en-IN" sz="2400" b="1" dirty="0"/>
              <a:t>:</a:t>
            </a:r>
          </a:p>
          <a:p>
            <a:r>
              <a:rPr lang="en-IN" sz="2400" b="1" dirty="0"/>
              <a:t>print("❌ ERROR: Not enough water in tank!") </a:t>
            </a:r>
          </a:p>
          <a:p>
            <a:r>
              <a:rPr lang="en-IN" sz="2400" b="1" dirty="0"/>
              <a:t>print(</a:t>
            </a:r>
            <a:r>
              <a:rPr lang="en-IN" sz="2400" b="1" dirty="0" err="1"/>
              <a:t>f"Available</a:t>
            </a:r>
            <a:r>
              <a:rPr lang="en-IN" sz="2400" b="1" dirty="0"/>
              <a:t> water: {</a:t>
            </a:r>
            <a:r>
              <a:rPr lang="en-IN" sz="2400" b="1" dirty="0" err="1"/>
              <a:t>water_level</a:t>
            </a:r>
            <a:r>
              <a:rPr lang="en-IN" sz="2400" b="1" dirty="0"/>
              <a:t>}%") </a:t>
            </a:r>
          </a:p>
          <a:p>
            <a:r>
              <a:rPr lang="en-IN" sz="2400" b="1" dirty="0"/>
              <a:t>print("🚨 ALERT: Usage exceeds available water")</a:t>
            </a:r>
          </a:p>
          <a:p>
            <a:r>
              <a:rPr lang="en-US" sz="2400" b="1" dirty="0"/>
              <a:t>else:</a:t>
            </a:r>
          </a:p>
          <a:p>
            <a:r>
              <a:rPr lang="en-US" sz="2400" b="1" dirty="0" err="1"/>
              <a:t>water_level</a:t>
            </a:r>
            <a:r>
              <a:rPr lang="en-US" sz="2400" b="1" dirty="0"/>
              <a:t> -= used </a:t>
            </a:r>
          </a:p>
          <a:p>
            <a:r>
              <a:rPr lang="en-US" sz="2400" b="1" dirty="0" err="1"/>
              <a:t>total_usage</a:t>
            </a:r>
            <a:r>
              <a:rPr lang="en-US" sz="2400" b="1" dirty="0"/>
              <a:t> += used</a:t>
            </a:r>
          </a:p>
          <a:p>
            <a:r>
              <a:rPr lang="en-US" sz="2400" b="1" dirty="0"/>
              <a:t>now = </a:t>
            </a:r>
            <a:r>
              <a:rPr lang="en-US" sz="2400" b="1" dirty="0" err="1"/>
              <a:t>datetime.now</a:t>
            </a:r>
            <a:r>
              <a:rPr lang="en-US" sz="2400" b="1" dirty="0"/>
              <a:t>().</a:t>
            </a:r>
            <a:r>
              <a:rPr lang="en-US" sz="2400" b="1" dirty="0" err="1"/>
              <a:t>strftime</a:t>
            </a:r>
            <a:r>
              <a:rPr lang="en-US" sz="2400" b="1" dirty="0"/>
              <a:t>("%H:%M:%S") </a:t>
            </a:r>
          </a:p>
        </p:txBody>
      </p:sp>
      <p:cxnSp>
        <p:nvCxnSpPr>
          <p:cNvPr id="14" name="Straight Connector 13">
            <a:extLst>
              <a:ext uri="{FF2B5EF4-FFF2-40B4-BE49-F238E27FC236}">
                <a16:creationId xmlns:a16="http://schemas.microsoft.com/office/drawing/2014/main" id="{571257AD-F2E5-E0D6-0E90-84A7B868AD2E}"/>
              </a:ext>
            </a:extLst>
          </p:cNvPr>
          <p:cNvCxnSpPr>
            <a:cxnSpLocks/>
          </p:cNvCxnSpPr>
          <p:nvPr/>
        </p:nvCxnSpPr>
        <p:spPr>
          <a:xfrm>
            <a:off x="8991600" y="1504072"/>
            <a:ext cx="0" cy="9270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9D41F68-DCE4-DADA-B416-670E8B9AEDEB}"/>
              </a:ext>
            </a:extLst>
          </p:cNvPr>
          <p:cNvSpPr txBox="1"/>
          <p:nvPr/>
        </p:nvSpPr>
        <p:spPr>
          <a:xfrm>
            <a:off x="9377534" y="1657628"/>
            <a:ext cx="8534399" cy="8586966"/>
          </a:xfrm>
          <a:prstGeom prst="rect">
            <a:avLst/>
          </a:prstGeom>
          <a:noFill/>
        </p:spPr>
        <p:txBody>
          <a:bodyPr wrap="square" rtlCol="0">
            <a:spAutoFit/>
          </a:bodyPr>
          <a:lstStyle/>
          <a:p>
            <a:r>
              <a:rPr lang="en-US" sz="2400" b="1" dirty="0" err="1"/>
              <a:t>usage_history.append</a:t>
            </a:r>
            <a:r>
              <a:rPr lang="en-US" sz="2400" b="1" dirty="0"/>
              <a:t>((used, now))</a:t>
            </a:r>
          </a:p>
          <a:p>
            <a:r>
              <a:rPr lang="en-US" sz="2400" b="1" dirty="0"/>
              <a:t>print(f"🚿 Used {used}% water at {now}")</a:t>
            </a:r>
            <a:endParaRPr lang="en-IN" sz="2400" b="1" dirty="0"/>
          </a:p>
          <a:p>
            <a:r>
              <a:rPr lang="en-IN" sz="2400" b="1" dirty="0"/>
              <a:t># -------- FILL WATER --------</a:t>
            </a:r>
          </a:p>
          <a:p>
            <a:r>
              <a:rPr lang="en-IN" sz="2400" b="1" dirty="0" err="1"/>
              <a:t>elif</a:t>
            </a:r>
            <a:r>
              <a:rPr lang="en-IN" sz="2400" b="1" dirty="0"/>
              <a:t> choice == "2": </a:t>
            </a:r>
          </a:p>
          <a:p>
            <a:r>
              <a:rPr lang="en-IN" sz="2400" b="1" dirty="0"/>
              <a:t>if </a:t>
            </a:r>
            <a:r>
              <a:rPr lang="en-IN" sz="2400" b="1" dirty="0" err="1"/>
              <a:t>motor_on</a:t>
            </a:r>
            <a:r>
              <a:rPr lang="en-IN" sz="2400" b="1" dirty="0"/>
              <a:t>:</a:t>
            </a:r>
          </a:p>
          <a:p>
            <a:r>
              <a:rPr lang="en-IN" sz="2400" b="1" dirty="0"/>
              <a:t>added = int(input("Enter water to add (%): "))</a:t>
            </a:r>
          </a:p>
          <a:p>
            <a:r>
              <a:rPr lang="en-IN" sz="2400" b="1" dirty="0"/>
              <a:t>if </a:t>
            </a:r>
            <a:r>
              <a:rPr lang="en-IN" sz="2400" b="1" dirty="0" err="1"/>
              <a:t>water_level</a:t>
            </a:r>
            <a:r>
              <a:rPr lang="en-IN" sz="2400" b="1" dirty="0"/>
              <a:t> + added &gt; 100:</a:t>
            </a:r>
          </a:p>
          <a:p>
            <a:r>
              <a:rPr lang="en-IN" sz="2400" b="1" dirty="0"/>
              <a:t>print("❌ ERROR: Tank will overflow!") </a:t>
            </a:r>
          </a:p>
          <a:p>
            <a:r>
              <a:rPr lang="en-IN" sz="2400" b="1" dirty="0"/>
              <a:t>print(</a:t>
            </a:r>
            <a:r>
              <a:rPr lang="en-IN" sz="2400" b="1" dirty="0" err="1"/>
              <a:t>f"Current</a:t>
            </a:r>
            <a:r>
              <a:rPr lang="en-IN" sz="2400" b="1" dirty="0"/>
              <a:t> level: {</a:t>
            </a:r>
            <a:r>
              <a:rPr lang="en-IN" sz="2400" b="1" dirty="0" err="1"/>
              <a:t>water_level</a:t>
            </a:r>
            <a:r>
              <a:rPr lang="en-IN" sz="2400" b="1" dirty="0"/>
              <a:t>}%")</a:t>
            </a:r>
          </a:p>
          <a:p>
            <a:r>
              <a:rPr lang="en-IN" sz="2400" b="1" dirty="0"/>
              <a:t>print(</a:t>
            </a:r>
            <a:r>
              <a:rPr lang="en-IN" sz="2400" b="1" dirty="0" err="1"/>
              <a:t>f"You</a:t>
            </a:r>
            <a:r>
              <a:rPr lang="en-IN" sz="2400" b="1" dirty="0"/>
              <a:t> can only add up to {100 - </a:t>
            </a:r>
            <a:r>
              <a:rPr lang="en-IN" sz="2400" b="1" dirty="0" err="1"/>
              <a:t>water_level</a:t>
            </a:r>
            <a:r>
              <a:rPr lang="en-IN" sz="2400" b="1" dirty="0"/>
              <a:t>}%") </a:t>
            </a:r>
          </a:p>
          <a:p>
            <a:r>
              <a:rPr lang="en-IN" sz="2400" b="1" dirty="0"/>
              <a:t>print("🚨 ALERT: Overflow prevented")</a:t>
            </a:r>
          </a:p>
          <a:p>
            <a:r>
              <a:rPr lang="en-IN" sz="2400" b="1" dirty="0"/>
              <a:t>else:</a:t>
            </a:r>
          </a:p>
          <a:p>
            <a:r>
              <a:rPr lang="en-IN" sz="2400" b="1" dirty="0" err="1"/>
              <a:t>water_level</a:t>
            </a:r>
            <a:r>
              <a:rPr lang="en-IN" sz="2400" b="1" dirty="0"/>
              <a:t> += added</a:t>
            </a:r>
          </a:p>
          <a:p>
            <a:r>
              <a:rPr lang="en-IN" sz="2400" b="1" dirty="0"/>
              <a:t>now = </a:t>
            </a:r>
            <a:r>
              <a:rPr lang="en-IN" sz="2400" b="1" dirty="0" err="1"/>
              <a:t>datetime.now</a:t>
            </a:r>
            <a:r>
              <a:rPr lang="en-IN" sz="2400" b="1" dirty="0"/>
              <a:t>().</a:t>
            </a:r>
            <a:r>
              <a:rPr lang="en-IN" sz="2400" b="1" dirty="0" err="1"/>
              <a:t>strftime</a:t>
            </a:r>
            <a:r>
              <a:rPr lang="en-IN" sz="2400" b="1" dirty="0"/>
              <a:t>("%H:%M:%S") </a:t>
            </a:r>
          </a:p>
          <a:p>
            <a:r>
              <a:rPr lang="en-IN" sz="2400" b="1" dirty="0" err="1"/>
              <a:t>fill_history.append</a:t>
            </a:r>
            <a:r>
              <a:rPr lang="en-IN" sz="2400" b="1" dirty="0"/>
              <a:t>((added, now))</a:t>
            </a:r>
          </a:p>
          <a:p>
            <a:r>
              <a:rPr lang="en-IN" sz="2400" b="1" dirty="0"/>
              <a:t>print(f"💧 Added {added}% water at {now}")</a:t>
            </a:r>
          </a:p>
          <a:p>
            <a:r>
              <a:rPr lang="en-IN" sz="2400" b="1" dirty="0"/>
              <a:t>else:</a:t>
            </a:r>
          </a:p>
          <a:p>
            <a:r>
              <a:rPr lang="en-IN" sz="2400" b="1" dirty="0"/>
              <a:t>print("❌Motor OFF → Cannot Fill")</a:t>
            </a:r>
          </a:p>
          <a:p>
            <a:r>
              <a:rPr lang="en-IN" sz="2400" b="1" dirty="0"/>
              <a:t># -------- VIEW USAGE HISTORY --------</a:t>
            </a:r>
          </a:p>
          <a:p>
            <a:r>
              <a:rPr lang="en-IN" sz="2400" b="1" dirty="0" err="1"/>
              <a:t>elif</a:t>
            </a:r>
            <a:r>
              <a:rPr lang="en-IN" sz="2400" b="1" dirty="0"/>
              <a:t> choice == "3":</a:t>
            </a:r>
          </a:p>
          <a:p>
            <a:r>
              <a:rPr lang="en-IN" sz="2400" b="1" dirty="0"/>
              <a:t>print("\n📊USAGE HISTORY") </a:t>
            </a:r>
          </a:p>
          <a:p>
            <a:r>
              <a:rPr lang="en-IN" sz="2400" b="1" dirty="0"/>
              <a:t>if not </a:t>
            </a:r>
            <a:r>
              <a:rPr lang="en-IN" sz="2400" b="1" dirty="0" err="1"/>
              <a:t>usage_history</a:t>
            </a:r>
            <a:r>
              <a:rPr lang="en-IN" sz="2400" b="1" dirty="0"/>
              <a:t>:</a:t>
            </a:r>
          </a:p>
          <a:p>
            <a:r>
              <a:rPr lang="en-IN" sz="2400" b="1" dirty="0"/>
              <a:t>print("No usage yet")</a:t>
            </a:r>
          </a:p>
        </p:txBody>
      </p:sp>
    </p:spTree>
    <p:extLst>
      <p:ext uri="{BB962C8B-B14F-4D97-AF65-F5344CB8AC3E}">
        <p14:creationId xmlns:p14="http://schemas.microsoft.com/office/powerpoint/2010/main" val="3136607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CA64-88DF-0600-5E9D-F9EA945F6AD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B45A30-62BE-0C37-6329-6064112CB9B1}"/>
              </a:ext>
            </a:extLst>
          </p:cNvPr>
          <p:cNvGrpSpPr/>
          <p:nvPr/>
        </p:nvGrpSpPr>
        <p:grpSpPr>
          <a:xfrm>
            <a:off x="457070" y="114300"/>
            <a:ext cx="16914281" cy="2009908"/>
            <a:chOff x="-481098" y="-314758"/>
            <a:chExt cx="22301799" cy="2536825"/>
          </a:xfrm>
        </p:grpSpPr>
        <p:sp>
          <p:nvSpPr>
            <p:cNvPr id="3" name="Freeform 3">
              <a:extLst>
                <a:ext uri="{FF2B5EF4-FFF2-40B4-BE49-F238E27FC236}">
                  <a16:creationId xmlns:a16="http://schemas.microsoft.com/office/drawing/2014/main" id="{A1047333-30FB-1C83-AA8A-58F761DED3BA}"/>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dirty="0"/>
            </a:p>
          </p:txBody>
        </p:sp>
        <p:sp>
          <p:nvSpPr>
            <p:cNvPr id="4" name="TextBox 4">
              <a:extLst>
                <a:ext uri="{FF2B5EF4-FFF2-40B4-BE49-F238E27FC236}">
                  <a16:creationId xmlns:a16="http://schemas.microsoft.com/office/drawing/2014/main" id="{694FF10D-727A-135E-D1E2-C2A269DA80F8}"/>
                </a:ext>
              </a:extLst>
            </p:cNvPr>
            <p:cNvSpPr txBox="1"/>
            <p:nvPr/>
          </p:nvSpPr>
          <p:spPr>
            <a:xfrm>
              <a:off x="-481098" y="-314758"/>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PROGRAM </a:t>
              </a:r>
            </a:p>
          </p:txBody>
        </p:sp>
      </p:grpSp>
      <p:sp>
        <p:nvSpPr>
          <p:cNvPr id="5" name="Freeform 5">
            <a:extLst>
              <a:ext uri="{FF2B5EF4-FFF2-40B4-BE49-F238E27FC236}">
                <a16:creationId xmlns:a16="http://schemas.microsoft.com/office/drawing/2014/main" id="{1BEF9182-EF7B-9221-2367-581075903E32}"/>
              </a:ext>
            </a:extLst>
          </p:cNvPr>
          <p:cNvSpPr/>
          <p:nvPr/>
        </p:nvSpPr>
        <p:spPr>
          <a:xfrm>
            <a:off x="1247775" y="321469"/>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3"/>
            <a:stretch>
              <a:fillRect b="-115"/>
            </a:stretch>
          </a:blipFill>
        </p:spPr>
      </p:sp>
      <p:sp>
        <p:nvSpPr>
          <p:cNvPr id="6" name="Freeform 6" descr="KRCE Tiruchirappalli : Admission 2024, Courses, Fees, Placement, Cut Off">
            <a:extLst>
              <a:ext uri="{FF2B5EF4-FFF2-40B4-BE49-F238E27FC236}">
                <a16:creationId xmlns:a16="http://schemas.microsoft.com/office/drawing/2014/main" id="{9C7A9A24-56E8-09FE-4D15-C34EA7D55ACC}"/>
              </a:ext>
            </a:extLst>
          </p:cNvPr>
          <p:cNvSpPr/>
          <p:nvPr/>
        </p:nvSpPr>
        <p:spPr>
          <a:xfrm>
            <a:off x="15085220" y="500062"/>
            <a:ext cx="1828800" cy="177165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4"/>
            <a:stretch>
              <a:fillRect/>
            </a:stretch>
          </a:blipFill>
        </p:spPr>
      </p:sp>
      <p:grpSp>
        <p:nvGrpSpPr>
          <p:cNvPr id="7" name="Group 7">
            <a:extLst>
              <a:ext uri="{FF2B5EF4-FFF2-40B4-BE49-F238E27FC236}">
                <a16:creationId xmlns:a16="http://schemas.microsoft.com/office/drawing/2014/main" id="{8DA0C784-5D13-BE11-BA24-C2181DB7E340}"/>
              </a:ext>
            </a:extLst>
          </p:cNvPr>
          <p:cNvGrpSpPr/>
          <p:nvPr/>
        </p:nvGrpSpPr>
        <p:grpSpPr>
          <a:xfrm>
            <a:off x="1310850" y="1750275"/>
            <a:ext cx="15603300" cy="6786450"/>
            <a:chOff x="121900" y="60933"/>
            <a:chExt cx="20560600" cy="8926733"/>
          </a:xfrm>
        </p:grpSpPr>
        <p:sp>
          <p:nvSpPr>
            <p:cNvPr id="8" name="Freeform 8">
              <a:extLst>
                <a:ext uri="{FF2B5EF4-FFF2-40B4-BE49-F238E27FC236}">
                  <a16:creationId xmlns:a16="http://schemas.microsoft.com/office/drawing/2014/main" id="{0ADEF0EA-68BD-D5B3-E73C-2C00818B9465}"/>
                </a:ext>
              </a:extLst>
            </p:cNvPr>
            <p:cNvSpPr/>
            <p:nvPr/>
          </p:nvSpPr>
          <p:spPr>
            <a:xfrm>
              <a:off x="-121900" y="-60933"/>
              <a:ext cx="20804400" cy="9048600"/>
            </a:xfrm>
            <a:custGeom>
              <a:avLst/>
              <a:gdLst/>
              <a:ahLst/>
              <a:cxnLst/>
              <a:rect l="l" t="t" r="r" b="b"/>
              <a:pathLst>
                <a:path w="20804400" h="9048600">
                  <a:moveTo>
                    <a:pt x="0" y="0"/>
                  </a:moveTo>
                  <a:lnTo>
                    <a:pt x="20804400" y="0"/>
                  </a:lnTo>
                  <a:lnTo>
                    <a:pt x="20804400" y="9048600"/>
                  </a:lnTo>
                  <a:lnTo>
                    <a:pt x="0" y="9048600"/>
                  </a:lnTo>
                  <a:close/>
                </a:path>
              </a:pathLst>
            </a:custGeom>
            <a:solidFill>
              <a:srgbClr val="000000">
                <a:alpha val="0"/>
              </a:srgbClr>
            </a:solidFill>
          </p:spPr>
        </p:sp>
        <p:sp>
          <p:nvSpPr>
            <p:cNvPr id="9" name="TextBox 9">
              <a:extLst>
                <a:ext uri="{FF2B5EF4-FFF2-40B4-BE49-F238E27FC236}">
                  <a16:creationId xmlns:a16="http://schemas.microsoft.com/office/drawing/2014/main" id="{8DF3DE44-F3A5-5424-3B84-7065B6C800B2}"/>
                </a:ext>
              </a:extLst>
            </p:cNvPr>
            <p:cNvSpPr txBox="1"/>
            <p:nvPr/>
          </p:nvSpPr>
          <p:spPr>
            <a:xfrm>
              <a:off x="121900" y="-262917"/>
              <a:ext cx="20560600" cy="9250583"/>
            </a:xfrm>
            <a:prstGeom prst="rect">
              <a:avLst/>
            </a:prstGeom>
          </p:spPr>
          <p:txBody>
            <a:bodyPr lIns="0" tIns="0" rIns="0" bIns="0" rtlCol="0" anchor="ctr"/>
            <a:lstStyle/>
            <a:p>
              <a:pPr algn="just">
                <a:lnSpc>
                  <a:spcPts val="7560"/>
                </a:lnSpc>
              </a:pPr>
              <a:endParaRPr lang="en-US" sz="4200" dirty="0">
                <a:solidFill>
                  <a:srgbClr val="000000"/>
                </a:solidFill>
                <a:latin typeface="Calibri (MS)"/>
                <a:ea typeface="Calibri (MS)"/>
                <a:cs typeface="Calibri (MS)"/>
                <a:sym typeface="Calibri (MS)"/>
              </a:endParaRPr>
            </a:p>
          </p:txBody>
        </p:sp>
      </p:grpSp>
      <p:grpSp>
        <p:nvGrpSpPr>
          <p:cNvPr id="10" name="Group 10">
            <a:extLst>
              <a:ext uri="{FF2B5EF4-FFF2-40B4-BE49-F238E27FC236}">
                <a16:creationId xmlns:a16="http://schemas.microsoft.com/office/drawing/2014/main" id="{589C5BC5-3D2A-312C-927A-EEA2F700FF92}"/>
              </a:ext>
            </a:extLst>
          </p:cNvPr>
          <p:cNvGrpSpPr/>
          <p:nvPr/>
        </p:nvGrpSpPr>
        <p:grpSpPr>
          <a:xfrm>
            <a:off x="1028700" y="9258300"/>
            <a:ext cx="4264820" cy="821532"/>
            <a:chOff x="121900" y="60933"/>
            <a:chExt cx="5442626" cy="911778"/>
          </a:xfrm>
        </p:grpSpPr>
        <p:sp>
          <p:nvSpPr>
            <p:cNvPr id="11" name="Freeform 11">
              <a:extLst>
                <a:ext uri="{FF2B5EF4-FFF2-40B4-BE49-F238E27FC236}">
                  <a16:creationId xmlns:a16="http://schemas.microsoft.com/office/drawing/2014/main" id="{6D524B7C-4B5A-71C0-9641-09A871FE4D12}"/>
                </a:ext>
              </a:extLst>
            </p:cNvPr>
            <p:cNvSpPr/>
            <p:nvPr/>
          </p:nvSpPr>
          <p:spPr>
            <a:xfrm>
              <a:off x="-121900" y="-60933"/>
              <a:ext cx="5686426" cy="1033645"/>
            </a:xfrm>
            <a:custGeom>
              <a:avLst/>
              <a:gdLst/>
              <a:ahLst/>
              <a:cxn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2" name="TextBox 12">
              <a:extLst>
                <a:ext uri="{FF2B5EF4-FFF2-40B4-BE49-F238E27FC236}">
                  <a16:creationId xmlns:a16="http://schemas.microsoft.com/office/drawing/2014/main" id="{44A6B0C9-6ECF-D747-9B39-7558419F1252}"/>
                </a:ext>
              </a:extLst>
            </p:cNvPr>
            <p:cNvSpPr txBox="1"/>
            <p:nvPr/>
          </p:nvSpPr>
          <p:spPr>
            <a:xfrm>
              <a:off x="121900" y="3783"/>
              <a:ext cx="5442626" cy="968928"/>
            </a:xfrm>
            <a:prstGeom prst="rect">
              <a:avLst/>
            </a:prstGeom>
          </p:spPr>
          <p:txBody>
            <a:bodyPr lIns="0" tIns="0" rIns="0" bIns="0" rtlCol="0" anchor="ctr"/>
            <a:lstStyle/>
            <a:p>
              <a:pPr algn="l">
                <a:lnSpc>
                  <a:spcPts val="2879"/>
                </a:lnSpc>
              </a:pPr>
              <a:r>
                <a:rPr lang="en-US" sz="2399">
                  <a:solidFill>
                    <a:srgbClr val="8B8B8B"/>
                  </a:solidFill>
                  <a:latin typeface="Calibri (MS)"/>
                  <a:ea typeface="Calibri (MS)"/>
                  <a:cs typeface="Calibri (MS)"/>
                  <a:sym typeface="Calibri (MS)"/>
                </a:rPr>
                <a:t>06/03/2025</a:t>
              </a:r>
            </a:p>
          </p:txBody>
        </p:sp>
      </p:grpSp>
      <p:sp>
        <p:nvSpPr>
          <p:cNvPr id="13" name="TextBox 12">
            <a:extLst>
              <a:ext uri="{FF2B5EF4-FFF2-40B4-BE49-F238E27FC236}">
                <a16:creationId xmlns:a16="http://schemas.microsoft.com/office/drawing/2014/main" id="{D5B3AABE-2EAC-516C-F0E9-563B5C528E1D}"/>
              </a:ext>
            </a:extLst>
          </p:cNvPr>
          <p:cNvSpPr txBox="1"/>
          <p:nvPr/>
        </p:nvSpPr>
        <p:spPr>
          <a:xfrm>
            <a:off x="453026" y="1916512"/>
            <a:ext cx="10972800" cy="8217634"/>
          </a:xfrm>
          <a:prstGeom prst="rect">
            <a:avLst/>
          </a:prstGeom>
          <a:noFill/>
        </p:spPr>
        <p:txBody>
          <a:bodyPr wrap="square" rtlCol="0">
            <a:spAutoFit/>
          </a:bodyPr>
          <a:lstStyle/>
          <a:p>
            <a:endParaRPr lang="en-IN" sz="2400" b="1" dirty="0"/>
          </a:p>
          <a:p>
            <a:r>
              <a:rPr lang="en-IN" sz="2400" b="1" dirty="0"/>
              <a:t>else:</a:t>
            </a:r>
          </a:p>
          <a:p>
            <a:r>
              <a:rPr lang="en-IN" sz="2400" b="1" dirty="0"/>
              <a:t>for u, t in </a:t>
            </a:r>
            <a:r>
              <a:rPr lang="en-IN" sz="2400" b="1" dirty="0" err="1"/>
              <a:t>usage_history</a:t>
            </a:r>
            <a:r>
              <a:rPr lang="en-IN" sz="2400" b="1" dirty="0"/>
              <a:t>: </a:t>
            </a:r>
          </a:p>
          <a:p>
            <a:r>
              <a:rPr lang="en-IN" sz="2400" b="1" dirty="0"/>
              <a:t>print(</a:t>
            </a:r>
            <a:r>
              <a:rPr lang="en-IN" sz="2400" b="1" dirty="0" err="1"/>
              <a:t>f"Used</a:t>
            </a:r>
            <a:r>
              <a:rPr lang="en-IN" sz="2400" b="1" dirty="0"/>
              <a:t> {u}% at {t}")</a:t>
            </a:r>
          </a:p>
          <a:p>
            <a:r>
              <a:rPr lang="en-IN" sz="2400" b="1" dirty="0" err="1"/>
              <a:t>elif</a:t>
            </a:r>
            <a:r>
              <a:rPr lang="en-IN" sz="2400" b="1" dirty="0"/>
              <a:t> choice == "4":print("\n💧 FILL HISTORY") </a:t>
            </a:r>
          </a:p>
          <a:p>
            <a:r>
              <a:rPr lang="en-IN" sz="2400" b="1" dirty="0"/>
              <a:t>if not </a:t>
            </a:r>
            <a:r>
              <a:rPr lang="en-IN" sz="2400" b="1" dirty="0" err="1"/>
              <a:t>fill_history</a:t>
            </a:r>
            <a:r>
              <a:rPr lang="en-IN" sz="2400" b="1" dirty="0"/>
              <a:t>:</a:t>
            </a:r>
          </a:p>
          <a:p>
            <a:r>
              <a:rPr lang="en-IN" sz="2400" b="1" dirty="0"/>
              <a:t>print("No filling yet")</a:t>
            </a:r>
          </a:p>
          <a:p>
            <a:r>
              <a:rPr lang="en-US" sz="2400" b="1" dirty="0"/>
              <a:t>else:</a:t>
            </a:r>
          </a:p>
          <a:p>
            <a:r>
              <a:rPr lang="en-US" sz="2400" b="1" dirty="0"/>
              <a:t>for f, t in </a:t>
            </a:r>
            <a:r>
              <a:rPr lang="en-US" sz="2400" b="1" dirty="0" err="1"/>
              <a:t>fill_history</a:t>
            </a:r>
            <a:r>
              <a:rPr lang="en-US" sz="2400" b="1" dirty="0"/>
              <a:t>: </a:t>
            </a:r>
          </a:p>
          <a:p>
            <a:r>
              <a:rPr lang="en-US" sz="2400" b="1" dirty="0"/>
              <a:t>print(</a:t>
            </a:r>
            <a:r>
              <a:rPr lang="en-US" sz="2400" b="1" dirty="0" err="1"/>
              <a:t>f"Added</a:t>
            </a:r>
            <a:r>
              <a:rPr lang="en-US" sz="2400" b="1" dirty="0"/>
              <a:t> {f}% at {t}")</a:t>
            </a:r>
            <a:endParaRPr lang="en-IN" sz="2400" b="1" dirty="0"/>
          </a:p>
          <a:p>
            <a:endParaRPr lang="en-IN" sz="2400" b="1" dirty="0"/>
          </a:p>
          <a:p>
            <a:r>
              <a:rPr lang="en-IN" sz="2400" b="1" dirty="0"/>
              <a:t># EXIT</a:t>
            </a:r>
          </a:p>
          <a:p>
            <a:r>
              <a:rPr lang="en-IN" sz="2400" b="1" dirty="0" err="1"/>
              <a:t>elif</a:t>
            </a:r>
            <a:r>
              <a:rPr lang="en-IN" sz="2400" b="1" dirty="0"/>
              <a:t> choice == "5": </a:t>
            </a:r>
          </a:p>
          <a:p>
            <a:r>
              <a:rPr lang="en-IN" sz="2400" b="1" dirty="0"/>
              <a:t>return False</a:t>
            </a:r>
          </a:p>
          <a:p>
            <a:r>
              <a:rPr lang="en-IN" sz="2400" b="1" dirty="0"/>
              <a:t>else:</a:t>
            </a:r>
          </a:p>
          <a:p>
            <a:r>
              <a:rPr lang="en-IN" sz="2400" b="1" dirty="0"/>
              <a:t>print("❌ Invalid Choice")</a:t>
            </a:r>
          </a:p>
          <a:p>
            <a:r>
              <a:rPr lang="en-IN" sz="2400" b="1" dirty="0" err="1"/>
              <a:t>water_level</a:t>
            </a:r>
            <a:r>
              <a:rPr lang="en-IN" sz="2400" b="1" dirty="0"/>
              <a:t> = max(0, min(100, </a:t>
            </a:r>
            <a:r>
              <a:rPr lang="en-IN" sz="2400" b="1" dirty="0" err="1"/>
              <a:t>water_level</a:t>
            </a:r>
            <a:r>
              <a:rPr lang="en-IN" sz="2400" b="1" dirty="0"/>
              <a:t>)) </a:t>
            </a:r>
          </a:p>
          <a:p>
            <a:r>
              <a:rPr lang="en-IN" sz="2400" b="1" dirty="0"/>
              <a:t>return True</a:t>
            </a:r>
          </a:p>
          <a:p>
            <a:r>
              <a:rPr lang="en-IN" sz="2400" b="1" dirty="0"/>
              <a:t># MODULE 4:DISPLAY </a:t>
            </a:r>
          </a:p>
          <a:p>
            <a:r>
              <a:rPr lang="en-IN" sz="2400" b="1" dirty="0"/>
              <a:t>def display():</a:t>
            </a:r>
          </a:p>
          <a:p>
            <a:r>
              <a:rPr lang="en-IN" sz="2400" b="1" dirty="0"/>
              <a:t>print("\n📊 SYSTEM STATUS") </a:t>
            </a:r>
          </a:p>
          <a:p>
            <a:r>
              <a:rPr lang="en-IN" sz="2400" b="1" dirty="0"/>
              <a:t>print("-" * 40)</a:t>
            </a:r>
          </a:p>
        </p:txBody>
      </p:sp>
      <p:cxnSp>
        <p:nvCxnSpPr>
          <p:cNvPr id="14" name="Straight Connector 13">
            <a:extLst>
              <a:ext uri="{FF2B5EF4-FFF2-40B4-BE49-F238E27FC236}">
                <a16:creationId xmlns:a16="http://schemas.microsoft.com/office/drawing/2014/main" id="{6089A1F0-4F1B-1198-435B-E9ED3F219C14}"/>
              </a:ext>
            </a:extLst>
          </p:cNvPr>
          <p:cNvCxnSpPr>
            <a:cxnSpLocks/>
          </p:cNvCxnSpPr>
          <p:nvPr/>
        </p:nvCxnSpPr>
        <p:spPr>
          <a:xfrm>
            <a:off x="6324600" y="2124208"/>
            <a:ext cx="0" cy="9270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28C709A-B907-083C-2EC5-7D1768226963}"/>
              </a:ext>
            </a:extLst>
          </p:cNvPr>
          <p:cNvSpPr txBox="1"/>
          <p:nvPr/>
        </p:nvSpPr>
        <p:spPr>
          <a:xfrm>
            <a:off x="6602165" y="1909264"/>
            <a:ext cx="8534399" cy="8217634"/>
          </a:xfrm>
          <a:prstGeom prst="rect">
            <a:avLst/>
          </a:prstGeom>
          <a:noFill/>
        </p:spPr>
        <p:txBody>
          <a:bodyPr wrap="square" rtlCol="0">
            <a:spAutoFit/>
          </a:bodyPr>
          <a:lstStyle/>
          <a:p>
            <a:endParaRPr lang="en-IN" sz="2400" b="1" dirty="0"/>
          </a:p>
          <a:p>
            <a:r>
              <a:rPr lang="en-IN" sz="2400" b="1" dirty="0"/>
              <a:t>print(</a:t>
            </a:r>
            <a:r>
              <a:rPr lang="en-IN" sz="2400" b="1" dirty="0" err="1"/>
              <a:t>f"Water</a:t>
            </a:r>
            <a:r>
              <a:rPr lang="en-IN" sz="2400" b="1" dirty="0"/>
              <a:t> Level : {</a:t>
            </a:r>
            <a:r>
              <a:rPr lang="en-IN" sz="2400" b="1" dirty="0" err="1"/>
              <a:t>water_level</a:t>
            </a:r>
            <a:r>
              <a:rPr lang="en-IN" sz="2400" b="1" dirty="0"/>
              <a:t>}%") </a:t>
            </a:r>
          </a:p>
          <a:p>
            <a:r>
              <a:rPr lang="en-IN" sz="2400" b="1" dirty="0"/>
              <a:t>print(</a:t>
            </a:r>
            <a:r>
              <a:rPr lang="en-IN" sz="2400" b="1" dirty="0" err="1"/>
              <a:t>f"Motor</a:t>
            </a:r>
            <a:r>
              <a:rPr lang="en-IN" sz="2400" b="1" dirty="0"/>
              <a:t> : {'ON' if </a:t>
            </a:r>
            <a:r>
              <a:rPr lang="en-IN" sz="2400" b="1" dirty="0" err="1"/>
              <a:t>motor_on</a:t>
            </a:r>
            <a:r>
              <a:rPr lang="en-IN" sz="2400" b="1" dirty="0"/>
              <a:t> else 'OFF'}")</a:t>
            </a:r>
          </a:p>
          <a:p>
            <a:r>
              <a:rPr lang="en-IN" sz="2400" b="1" dirty="0"/>
              <a:t>print(</a:t>
            </a:r>
            <a:r>
              <a:rPr lang="en-IN" sz="2400" b="1" dirty="0" err="1"/>
              <a:t>f"Total</a:t>
            </a:r>
            <a:r>
              <a:rPr lang="en-IN" sz="2400" b="1" dirty="0"/>
              <a:t> Usage : {</a:t>
            </a:r>
            <a:r>
              <a:rPr lang="en-IN" sz="2400" b="1" dirty="0" err="1"/>
              <a:t>total_usage</a:t>
            </a:r>
            <a:r>
              <a:rPr lang="en-IN" sz="2400" b="1" dirty="0"/>
              <a:t>} units")</a:t>
            </a:r>
          </a:p>
          <a:p>
            <a:r>
              <a:rPr lang="en-IN" sz="2400" b="1" dirty="0"/>
              <a:t>print("-" *40)</a:t>
            </a:r>
          </a:p>
          <a:p>
            <a:r>
              <a:rPr lang="en-IN" sz="2400" b="1" dirty="0"/>
              <a:t># MODULE 5: ALERT SYSTEM (DETAILED) </a:t>
            </a:r>
          </a:p>
          <a:p>
            <a:r>
              <a:rPr lang="en-IN" sz="2400" b="1" dirty="0"/>
              <a:t>def alert():</a:t>
            </a:r>
          </a:p>
          <a:p>
            <a:r>
              <a:rPr lang="en-IN" sz="2400" b="1" dirty="0"/>
              <a:t>print("\n🚨 ALERT SYSTEM")</a:t>
            </a:r>
          </a:p>
          <a:p>
            <a:r>
              <a:rPr lang="en-IN" sz="2400" b="1" dirty="0"/>
              <a:t>if </a:t>
            </a:r>
            <a:r>
              <a:rPr lang="en-IN" sz="2400" b="1" dirty="0" err="1"/>
              <a:t>water_level</a:t>
            </a:r>
            <a:r>
              <a:rPr lang="en-IN" sz="2400" b="1" dirty="0"/>
              <a:t> &lt;= 5:</a:t>
            </a:r>
          </a:p>
          <a:p>
            <a:r>
              <a:rPr lang="en-IN" sz="2400" b="1" dirty="0"/>
              <a:t>print("🔴 CRITICAL: Tank Almost Empty (0-5%)")</a:t>
            </a:r>
          </a:p>
          <a:p>
            <a:r>
              <a:rPr lang="en-IN" sz="2400" b="1" dirty="0" err="1"/>
              <a:t>elif</a:t>
            </a:r>
            <a:r>
              <a:rPr lang="en-IN" sz="2400" b="1" dirty="0"/>
              <a:t> </a:t>
            </a:r>
            <a:r>
              <a:rPr lang="en-IN" sz="2400" b="1" dirty="0" err="1"/>
              <a:t>water_level</a:t>
            </a:r>
            <a:r>
              <a:rPr lang="en-IN" sz="2400" b="1" dirty="0"/>
              <a:t> &lt;= 15:</a:t>
            </a:r>
          </a:p>
          <a:p>
            <a:r>
              <a:rPr lang="en-IN" sz="2400" b="1" dirty="0"/>
              <a:t>print("□ VERY </a:t>
            </a:r>
            <a:r>
              <a:rPr lang="en-IN" sz="2400" b="1" dirty="0" err="1"/>
              <a:t>LOW:Water</a:t>
            </a:r>
            <a:r>
              <a:rPr lang="en-IN" sz="2400" b="1" dirty="0"/>
              <a:t> Level Very Low (6-15%)")</a:t>
            </a:r>
            <a:r>
              <a:rPr lang="en-IN" sz="2400" b="1" dirty="0" err="1"/>
              <a:t>elif</a:t>
            </a:r>
            <a:r>
              <a:rPr lang="en-IN" sz="2400" b="1" dirty="0"/>
              <a:t> </a:t>
            </a:r>
            <a:r>
              <a:rPr lang="en-IN" sz="2400" b="1" dirty="0" err="1"/>
              <a:t>water_level</a:t>
            </a:r>
            <a:r>
              <a:rPr lang="en-IN" sz="2400" b="1" dirty="0"/>
              <a:t> &lt;= 30:</a:t>
            </a:r>
          </a:p>
          <a:p>
            <a:r>
              <a:rPr lang="en-IN" sz="2400" b="1" dirty="0"/>
              <a:t>print("□ LOW: Water Level Low (16-30%)") </a:t>
            </a:r>
          </a:p>
          <a:p>
            <a:r>
              <a:rPr lang="en-IN" sz="2400" b="1" dirty="0" err="1"/>
              <a:t>elif</a:t>
            </a:r>
            <a:r>
              <a:rPr lang="en-IN" sz="2400" b="1" dirty="0"/>
              <a:t> </a:t>
            </a:r>
            <a:r>
              <a:rPr lang="en-IN" sz="2400" b="1" dirty="0" err="1"/>
              <a:t>water_level</a:t>
            </a:r>
            <a:r>
              <a:rPr lang="en-IN" sz="2400" b="1" dirty="0"/>
              <a:t> &lt;= 60:</a:t>
            </a:r>
          </a:p>
          <a:p>
            <a:r>
              <a:rPr lang="en-IN" sz="2400" b="1" dirty="0"/>
              <a:t>print("□ NORMAL: Water Level Medium (31-60%)")</a:t>
            </a:r>
          </a:p>
          <a:p>
            <a:r>
              <a:rPr lang="en-IN" sz="2400" b="1" dirty="0" err="1"/>
              <a:t>elif</a:t>
            </a:r>
            <a:r>
              <a:rPr lang="en-IN" sz="2400" b="1" dirty="0"/>
              <a:t> </a:t>
            </a:r>
            <a:r>
              <a:rPr lang="en-IN" sz="2400" b="1" dirty="0" err="1"/>
              <a:t>water_level</a:t>
            </a:r>
            <a:r>
              <a:rPr lang="en-IN" sz="2400" b="1" dirty="0"/>
              <a:t> &lt;= 85:</a:t>
            </a:r>
          </a:p>
          <a:p>
            <a:r>
              <a:rPr lang="en-IN" sz="2400" b="1" dirty="0"/>
              <a:t>print("🔵 HIGH: Water Level High (61-85%)")</a:t>
            </a:r>
          </a:p>
          <a:p>
            <a:r>
              <a:rPr lang="en-IN" sz="2400" b="1" dirty="0" err="1"/>
              <a:t>elif</a:t>
            </a:r>
            <a:r>
              <a:rPr lang="en-IN" sz="2400" b="1" dirty="0"/>
              <a:t> </a:t>
            </a:r>
            <a:r>
              <a:rPr lang="en-IN" sz="2400" b="1" dirty="0" err="1"/>
              <a:t>water_level</a:t>
            </a:r>
            <a:r>
              <a:rPr lang="en-IN" sz="2400" b="1" dirty="0"/>
              <a:t> &lt; 100:</a:t>
            </a:r>
          </a:p>
          <a:p>
            <a:r>
              <a:rPr lang="en-IN" sz="2400" b="1" dirty="0"/>
              <a:t>print("□ VERY HIGH: Tank Almost Full (86-99%)")</a:t>
            </a:r>
          </a:p>
          <a:p>
            <a:r>
              <a:rPr lang="en-IN" sz="2400" b="1" dirty="0" err="1"/>
              <a:t>elif</a:t>
            </a:r>
            <a:r>
              <a:rPr lang="en-IN" sz="2400" b="1" dirty="0"/>
              <a:t> </a:t>
            </a:r>
            <a:r>
              <a:rPr lang="en-IN" sz="2400" b="1" dirty="0" err="1"/>
              <a:t>water_level</a:t>
            </a:r>
            <a:r>
              <a:rPr lang="en-IN" sz="2400" b="1" dirty="0"/>
              <a:t> == 100:</a:t>
            </a:r>
          </a:p>
          <a:p>
            <a:r>
              <a:rPr lang="en-IN" sz="2400" b="1" dirty="0"/>
              <a:t>print("🔴 FULL: Tank Completely Full(100%)")</a:t>
            </a:r>
          </a:p>
        </p:txBody>
      </p:sp>
      <p:sp>
        <p:nvSpPr>
          <p:cNvPr id="17" name="TextBox 16">
            <a:extLst>
              <a:ext uri="{FF2B5EF4-FFF2-40B4-BE49-F238E27FC236}">
                <a16:creationId xmlns:a16="http://schemas.microsoft.com/office/drawing/2014/main" id="{4306E997-4BC1-A918-AD5B-FB518C40D56A}"/>
              </a:ext>
            </a:extLst>
          </p:cNvPr>
          <p:cNvSpPr txBox="1"/>
          <p:nvPr/>
        </p:nvSpPr>
        <p:spPr>
          <a:xfrm>
            <a:off x="14249400" y="2492626"/>
            <a:ext cx="9144000" cy="7478970"/>
          </a:xfrm>
          <a:prstGeom prst="rect">
            <a:avLst/>
          </a:prstGeom>
          <a:noFill/>
        </p:spPr>
        <p:txBody>
          <a:bodyPr wrap="square">
            <a:spAutoFit/>
          </a:bodyPr>
          <a:lstStyle/>
          <a:p>
            <a:r>
              <a:rPr lang="en-IN" sz="2400" b="1" dirty="0"/>
              <a:t># MAIN SYSTEM </a:t>
            </a:r>
          </a:p>
          <a:p>
            <a:r>
              <a:rPr lang="en-IN" sz="2400" b="1" dirty="0"/>
              <a:t>#</a:t>
            </a:r>
          </a:p>
          <a:p>
            <a:r>
              <a:rPr lang="en-IN" sz="2400" b="1" dirty="0"/>
              <a:t>header()</a:t>
            </a:r>
          </a:p>
          <a:p>
            <a:r>
              <a:rPr lang="en-IN" sz="2400" b="1" dirty="0"/>
              <a:t>print("System Started...")</a:t>
            </a:r>
          </a:p>
          <a:p>
            <a:r>
              <a:rPr lang="en-IN" sz="2400" b="1" dirty="0"/>
              <a:t># FIRST SENSOR DISPLAY</a:t>
            </a:r>
          </a:p>
          <a:p>
            <a:r>
              <a:rPr lang="en-IN" sz="2400" b="1" dirty="0"/>
              <a:t>level= monitor() </a:t>
            </a:r>
          </a:p>
          <a:p>
            <a:r>
              <a:rPr lang="en-IN" sz="2400" b="1" dirty="0"/>
              <a:t>control(level) </a:t>
            </a:r>
          </a:p>
          <a:p>
            <a:r>
              <a:rPr lang="en-IN" sz="2400" b="1" dirty="0"/>
              <a:t>display()</a:t>
            </a:r>
          </a:p>
          <a:p>
            <a:r>
              <a:rPr lang="en-IN" sz="2400" b="1" dirty="0"/>
              <a:t>alert()</a:t>
            </a:r>
          </a:p>
          <a:p>
            <a:r>
              <a:rPr lang="en-IN" sz="2400" b="1" dirty="0"/>
              <a:t># INTERACTIVE LOOP</a:t>
            </a:r>
          </a:p>
          <a:p>
            <a:r>
              <a:rPr lang="en-IN" sz="2400" b="1" dirty="0"/>
              <a:t>while True:</a:t>
            </a:r>
          </a:p>
          <a:p>
            <a:r>
              <a:rPr lang="en-IN" sz="2400" b="1" dirty="0"/>
              <a:t>if not </a:t>
            </a:r>
            <a:r>
              <a:rPr lang="en-IN" sz="2400" b="1" dirty="0" err="1"/>
              <a:t>user_action</a:t>
            </a:r>
            <a:r>
              <a:rPr lang="en-IN" sz="2400" b="1" dirty="0"/>
              <a:t>():</a:t>
            </a:r>
          </a:p>
          <a:p>
            <a:r>
              <a:rPr lang="en-IN" sz="2400" b="1" dirty="0"/>
              <a:t>print("\n👋</a:t>
            </a:r>
            <a:r>
              <a:rPr lang="en-IN" sz="2400" b="1" dirty="0" err="1"/>
              <a:t>SystemStopped</a:t>
            </a:r>
            <a:r>
              <a:rPr lang="en-IN" sz="2400" b="1" dirty="0"/>
              <a:t>") </a:t>
            </a:r>
          </a:p>
          <a:p>
            <a:r>
              <a:rPr lang="en-IN" sz="2400" b="1" dirty="0"/>
              <a:t>break</a:t>
            </a:r>
          </a:p>
          <a:p>
            <a:r>
              <a:rPr lang="en-IN" sz="2400" b="1" dirty="0"/>
              <a:t>header()</a:t>
            </a:r>
          </a:p>
          <a:p>
            <a:r>
              <a:rPr lang="en-IN" sz="2400" b="1" dirty="0"/>
              <a:t>level= monitor() </a:t>
            </a:r>
          </a:p>
          <a:p>
            <a:r>
              <a:rPr lang="en-IN" sz="2400" b="1" dirty="0"/>
              <a:t>control(level) </a:t>
            </a:r>
          </a:p>
          <a:p>
            <a:r>
              <a:rPr lang="en-IN" sz="2400" b="1" dirty="0"/>
              <a:t>display()</a:t>
            </a:r>
          </a:p>
          <a:p>
            <a:r>
              <a:rPr lang="en-IN" sz="2400" b="1" dirty="0"/>
              <a:t>alert() </a:t>
            </a:r>
          </a:p>
          <a:p>
            <a:r>
              <a:rPr lang="en-IN" sz="2400" b="1" dirty="0" err="1"/>
              <a:t>time.sleep</a:t>
            </a:r>
            <a:r>
              <a:rPr lang="en-IN" sz="2400" b="1" dirty="0"/>
              <a:t>(1)</a:t>
            </a:r>
          </a:p>
        </p:txBody>
      </p:sp>
      <p:cxnSp>
        <p:nvCxnSpPr>
          <p:cNvPr id="18" name="Straight Connector 17">
            <a:extLst>
              <a:ext uri="{FF2B5EF4-FFF2-40B4-BE49-F238E27FC236}">
                <a16:creationId xmlns:a16="http://schemas.microsoft.com/office/drawing/2014/main" id="{E60DE2E6-FA80-46B8-2330-3898578917B6}"/>
              </a:ext>
            </a:extLst>
          </p:cNvPr>
          <p:cNvCxnSpPr>
            <a:cxnSpLocks/>
          </p:cNvCxnSpPr>
          <p:nvPr/>
        </p:nvCxnSpPr>
        <p:spPr>
          <a:xfrm>
            <a:off x="13868400" y="2124208"/>
            <a:ext cx="0" cy="9270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3884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A193CAE-3E11-76AA-AF28-81C03AA6B675}"/>
              </a:ext>
            </a:extLst>
          </p:cNvPr>
          <p:cNvGrpSpPr/>
          <p:nvPr/>
        </p:nvGrpSpPr>
        <p:grpSpPr>
          <a:xfrm>
            <a:off x="533400" y="-293630"/>
            <a:ext cx="16837951" cy="2417838"/>
            <a:chOff x="-380455" y="-829631"/>
            <a:chExt cx="22201156" cy="3051698"/>
          </a:xfrm>
        </p:grpSpPr>
        <p:sp>
          <p:nvSpPr>
            <p:cNvPr id="4" name="Freeform 3">
              <a:extLst>
                <a:ext uri="{FF2B5EF4-FFF2-40B4-BE49-F238E27FC236}">
                  <a16:creationId xmlns:a16="http://schemas.microsoft.com/office/drawing/2014/main" id="{FAA2F63B-1977-9364-1DC5-2A9B19E739AA}"/>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dirty="0"/>
            </a:p>
          </p:txBody>
        </p:sp>
        <p:sp>
          <p:nvSpPr>
            <p:cNvPr id="5" name="TextBox 4">
              <a:extLst>
                <a:ext uri="{FF2B5EF4-FFF2-40B4-BE49-F238E27FC236}">
                  <a16:creationId xmlns:a16="http://schemas.microsoft.com/office/drawing/2014/main" id="{D6D95D76-8596-4B48-D72E-ED3C9AB69342}"/>
                </a:ext>
              </a:extLst>
            </p:cNvPr>
            <p:cNvSpPr txBox="1"/>
            <p:nvPr/>
          </p:nvSpPr>
          <p:spPr>
            <a:xfrm>
              <a:off x="-380455" y="-829631"/>
              <a:ext cx="21698799"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OUTPUT-SCREENSHOTS </a:t>
              </a:r>
            </a:p>
          </p:txBody>
        </p:sp>
      </p:grpSp>
      <p:sp>
        <p:nvSpPr>
          <p:cNvPr id="6" name="Freeform 5">
            <a:extLst>
              <a:ext uri="{FF2B5EF4-FFF2-40B4-BE49-F238E27FC236}">
                <a16:creationId xmlns:a16="http://schemas.microsoft.com/office/drawing/2014/main" id="{EC3900DB-2098-C85E-FC20-17BC8E6CAD57}"/>
              </a:ext>
            </a:extLst>
          </p:cNvPr>
          <p:cNvSpPr/>
          <p:nvPr/>
        </p:nvSpPr>
        <p:spPr>
          <a:xfrm>
            <a:off x="1101555" y="114300"/>
            <a:ext cx="1600200" cy="1585912"/>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2"/>
            <a:stretch>
              <a:fillRect b="-115"/>
            </a:stretch>
          </a:blipFill>
        </p:spPr>
        <p:txBody>
          <a:bodyPr/>
          <a:lstStyle/>
          <a:p>
            <a:endParaRPr lang="en-IN" dirty="0"/>
          </a:p>
        </p:txBody>
      </p:sp>
      <p:sp>
        <p:nvSpPr>
          <p:cNvPr id="7" name="Freeform 6" descr="KRCE Tiruchirappalli : Admission 2024, Courses, Fees, Placement, Cut Off">
            <a:extLst>
              <a:ext uri="{FF2B5EF4-FFF2-40B4-BE49-F238E27FC236}">
                <a16:creationId xmlns:a16="http://schemas.microsoft.com/office/drawing/2014/main" id="{8E8CE2AE-6338-E204-386F-ED5C25252661}"/>
              </a:ext>
            </a:extLst>
          </p:cNvPr>
          <p:cNvSpPr/>
          <p:nvPr/>
        </p:nvSpPr>
        <p:spPr>
          <a:xfrm>
            <a:off x="15586243" y="130366"/>
            <a:ext cx="1600201" cy="1585912"/>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3"/>
            <a:stretch>
              <a:fillRect/>
            </a:stretch>
          </a:blipFill>
        </p:spPr>
      </p:sp>
      <p:pic>
        <p:nvPicPr>
          <p:cNvPr id="17" name="Picture 16">
            <a:extLst>
              <a:ext uri="{FF2B5EF4-FFF2-40B4-BE49-F238E27FC236}">
                <a16:creationId xmlns:a16="http://schemas.microsoft.com/office/drawing/2014/main" id="{9AFD000A-2A35-129E-FD97-C67FABF4C166}"/>
              </a:ext>
            </a:extLst>
          </p:cNvPr>
          <p:cNvPicPr>
            <a:picLocks noChangeAspect="1"/>
          </p:cNvPicPr>
          <p:nvPr/>
        </p:nvPicPr>
        <p:blipFill>
          <a:blip r:embed="rId4">
            <a:extLst>
              <a:ext uri="{28A0092B-C50C-407E-A947-70E740481C1C}">
                <a14:useLocalDpi xmlns:a14="http://schemas.microsoft.com/office/drawing/2010/main" val="0"/>
              </a:ext>
            </a:extLst>
          </a:blip>
          <a:srcRect t="16528" b="7778"/>
          <a:stretch>
            <a:fillRect/>
          </a:stretch>
        </p:blipFill>
        <p:spPr>
          <a:xfrm>
            <a:off x="3627900" y="1467440"/>
            <a:ext cx="5133975" cy="86358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a:extLst>
              <a:ext uri="{FF2B5EF4-FFF2-40B4-BE49-F238E27FC236}">
                <a16:creationId xmlns:a16="http://schemas.microsoft.com/office/drawing/2014/main" id="{911EAACF-18F2-5DFF-C026-B7792CFCA159}"/>
              </a:ext>
            </a:extLst>
          </p:cNvPr>
          <p:cNvPicPr>
            <a:picLocks noChangeAspect="1"/>
          </p:cNvPicPr>
          <p:nvPr/>
        </p:nvPicPr>
        <p:blipFill>
          <a:blip r:embed="rId5">
            <a:extLst>
              <a:ext uri="{28A0092B-C50C-407E-A947-70E740481C1C}">
                <a14:useLocalDpi xmlns:a14="http://schemas.microsoft.com/office/drawing/2010/main" val="0"/>
              </a:ext>
            </a:extLst>
          </a:blip>
          <a:srcRect l="3006" t="18079" r="7650" b="7941"/>
          <a:stretch>
            <a:fillRect/>
          </a:stretch>
        </p:blipFill>
        <p:spPr>
          <a:xfrm>
            <a:off x="9850589" y="1467440"/>
            <a:ext cx="4709796" cy="86663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58842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E6D6-5D58-7AD1-3C47-973E7EC2057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0E93D04D-A3BF-524B-E2E0-F692007ACD2E}"/>
              </a:ext>
            </a:extLst>
          </p:cNvPr>
          <p:cNvGrpSpPr/>
          <p:nvPr/>
        </p:nvGrpSpPr>
        <p:grpSpPr>
          <a:xfrm>
            <a:off x="533400" y="-190500"/>
            <a:ext cx="16914281" cy="2009908"/>
            <a:chOff x="-481098" y="-314758"/>
            <a:chExt cx="22301799" cy="2536825"/>
          </a:xfrm>
        </p:grpSpPr>
        <p:sp>
          <p:nvSpPr>
            <p:cNvPr id="4" name="Freeform 3">
              <a:extLst>
                <a:ext uri="{FF2B5EF4-FFF2-40B4-BE49-F238E27FC236}">
                  <a16:creationId xmlns:a16="http://schemas.microsoft.com/office/drawing/2014/main" id="{5D7AEF7C-2032-7A1D-F961-01B8CA89EC7D}"/>
                </a:ext>
              </a:extLst>
            </p:cNvPr>
            <p:cNvSpPr/>
            <p:nvPr/>
          </p:nvSpPr>
          <p:spPr>
            <a:xfrm>
              <a:off x="-121900" y="-60933"/>
              <a:ext cx="21942601" cy="2283000"/>
            </a:xfrm>
            <a:custGeom>
              <a:avLst/>
              <a:gdLst/>
              <a:ahLst/>
              <a:cxnLst/>
              <a:rect l="l" t="t" r="r" b="b"/>
              <a:pathLst>
                <a:path w="21942601" h="2283000">
                  <a:moveTo>
                    <a:pt x="0" y="0"/>
                  </a:moveTo>
                  <a:lnTo>
                    <a:pt x="21942601" y="0"/>
                  </a:lnTo>
                  <a:lnTo>
                    <a:pt x="21942601" y="2283000"/>
                  </a:lnTo>
                  <a:lnTo>
                    <a:pt x="0" y="2283000"/>
                  </a:lnTo>
                  <a:close/>
                </a:path>
              </a:pathLst>
            </a:custGeom>
            <a:solidFill>
              <a:srgbClr val="000000">
                <a:alpha val="0"/>
              </a:srgbClr>
            </a:solidFill>
          </p:spPr>
          <p:txBody>
            <a:bodyPr/>
            <a:lstStyle/>
            <a:p>
              <a:endParaRPr lang="en-IN" dirty="0"/>
            </a:p>
          </p:txBody>
        </p:sp>
        <p:sp>
          <p:nvSpPr>
            <p:cNvPr id="5" name="TextBox 4">
              <a:extLst>
                <a:ext uri="{FF2B5EF4-FFF2-40B4-BE49-F238E27FC236}">
                  <a16:creationId xmlns:a16="http://schemas.microsoft.com/office/drawing/2014/main" id="{12DA0F38-9B92-67F8-0A50-4E4A4E147D7B}"/>
                </a:ext>
              </a:extLst>
            </p:cNvPr>
            <p:cNvSpPr txBox="1"/>
            <p:nvPr/>
          </p:nvSpPr>
          <p:spPr>
            <a:xfrm>
              <a:off x="-481098" y="-314758"/>
              <a:ext cx="21698800" cy="2256383"/>
            </a:xfrm>
            <a:prstGeom prst="rect">
              <a:avLst/>
            </a:prstGeom>
          </p:spPr>
          <p:txBody>
            <a:bodyPr lIns="0" tIns="0" rIns="0" bIns="0" rtlCol="0" anchor="ctr"/>
            <a:lstStyle/>
            <a:p>
              <a:pPr algn="ctr">
                <a:lnSpc>
                  <a:spcPts val="5400"/>
                </a:lnSpc>
              </a:pPr>
              <a:r>
                <a:rPr lang="en-US" sz="4500" b="1" dirty="0">
                  <a:solidFill>
                    <a:srgbClr val="FF0066"/>
                  </a:solidFill>
                  <a:latin typeface="Arial MT Pro Bold"/>
                  <a:ea typeface="Arial MT Pro Bold"/>
                  <a:cs typeface="Arial MT Pro Bold"/>
                  <a:sym typeface="Arial MT Pro Bold"/>
                </a:rPr>
                <a:t>OUTPUT-SCREENSHOTS </a:t>
              </a:r>
            </a:p>
          </p:txBody>
        </p:sp>
      </p:grpSp>
      <p:sp>
        <p:nvSpPr>
          <p:cNvPr id="6" name="Freeform 5">
            <a:extLst>
              <a:ext uri="{FF2B5EF4-FFF2-40B4-BE49-F238E27FC236}">
                <a16:creationId xmlns:a16="http://schemas.microsoft.com/office/drawing/2014/main" id="{887467F2-DE8D-79EB-881C-60F3964D3DF5}"/>
              </a:ext>
            </a:extLst>
          </p:cNvPr>
          <p:cNvSpPr/>
          <p:nvPr/>
        </p:nvSpPr>
        <p:spPr>
          <a:xfrm>
            <a:off x="1101555" y="114300"/>
            <a:ext cx="1336845" cy="1066800"/>
          </a:xfrm>
          <a:custGeom>
            <a:avLst/>
            <a:gdLst/>
            <a:ahLst/>
            <a:cxnLst/>
            <a:rect l="l" t="t" r="r" b="b"/>
            <a:pathLst>
              <a:path w="1600200" h="1585912">
                <a:moveTo>
                  <a:pt x="0" y="0"/>
                </a:moveTo>
                <a:lnTo>
                  <a:pt x="1600200" y="0"/>
                </a:lnTo>
                <a:lnTo>
                  <a:pt x="1600200" y="1585913"/>
                </a:lnTo>
                <a:lnTo>
                  <a:pt x="0" y="1585913"/>
                </a:lnTo>
                <a:lnTo>
                  <a:pt x="0" y="0"/>
                </a:lnTo>
                <a:close/>
              </a:path>
            </a:pathLst>
          </a:custGeom>
          <a:blipFill>
            <a:blip r:embed="rId2"/>
            <a:stretch>
              <a:fillRect b="-115"/>
            </a:stretch>
          </a:blipFill>
        </p:spPr>
        <p:txBody>
          <a:bodyPr/>
          <a:lstStyle/>
          <a:p>
            <a:endParaRPr lang="en-IN" dirty="0"/>
          </a:p>
        </p:txBody>
      </p:sp>
      <p:sp>
        <p:nvSpPr>
          <p:cNvPr id="7" name="Freeform 6" descr="KRCE Tiruchirappalli : Admission 2024, Courses, Fees, Placement, Cut Off">
            <a:extLst>
              <a:ext uri="{FF2B5EF4-FFF2-40B4-BE49-F238E27FC236}">
                <a16:creationId xmlns:a16="http://schemas.microsoft.com/office/drawing/2014/main" id="{4FF6F170-F65B-E7FB-272B-D265CC781823}"/>
              </a:ext>
            </a:extLst>
          </p:cNvPr>
          <p:cNvSpPr/>
          <p:nvPr/>
        </p:nvSpPr>
        <p:spPr>
          <a:xfrm>
            <a:off x="15960755" y="130366"/>
            <a:ext cx="1225689" cy="1066800"/>
          </a:xfrm>
          <a:custGeom>
            <a:avLst/>
            <a:gdLst/>
            <a:ahLst/>
            <a:cxnLst/>
            <a:rect l="l" t="t" r="r" b="b"/>
            <a:pathLst>
              <a:path w="1828800" h="1771650">
                <a:moveTo>
                  <a:pt x="0" y="0"/>
                </a:moveTo>
                <a:lnTo>
                  <a:pt x="1828800" y="0"/>
                </a:lnTo>
                <a:lnTo>
                  <a:pt x="1828800" y="1771650"/>
                </a:lnTo>
                <a:lnTo>
                  <a:pt x="0" y="1771650"/>
                </a:lnTo>
                <a:lnTo>
                  <a:pt x="0" y="0"/>
                </a:lnTo>
                <a:close/>
              </a:path>
            </a:pathLst>
          </a:custGeom>
          <a:blipFill>
            <a:blip r:embed="rId3"/>
            <a:stretch>
              <a:fillRect/>
            </a:stretch>
          </a:blipFill>
        </p:spPr>
      </p:sp>
      <p:pic>
        <p:nvPicPr>
          <p:cNvPr id="22" name="Picture 21">
            <a:extLst>
              <a:ext uri="{FF2B5EF4-FFF2-40B4-BE49-F238E27FC236}">
                <a16:creationId xmlns:a16="http://schemas.microsoft.com/office/drawing/2014/main" id="{EAFD0704-E8A9-49F8-9964-BD7223A6046A}"/>
              </a:ext>
            </a:extLst>
          </p:cNvPr>
          <p:cNvPicPr>
            <a:picLocks noChangeAspect="1"/>
          </p:cNvPicPr>
          <p:nvPr/>
        </p:nvPicPr>
        <p:blipFill>
          <a:blip r:embed="rId4">
            <a:extLst>
              <a:ext uri="{28A0092B-C50C-407E-A947-70E740481C1C}">
                <a14:useLocalDpi xmlns:a14="http://schemas.microsoft.com/office/drawing/2010/main" val="0"/>
              </a:ext>
            </a:extLst>
          </a:blip>
          <a:srcRect t="7251" r="3265" b="2897"/>
          <a:stretch>
            <a:fillRect/>
          </a:stretch>
        </p:blipFill>
        <p:spPr>
          <a:xfrm>
            <a:off x="1620738" y="1337943"/>
            <a:ext cx="4267200" cy="88079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a:extLst>
              <a:ext uri="{FF2B5EF4-FFF2-40B4-BE49-F238E27FC236}">
                <a16:creationId xmlns:a16="http://schemas.microsoft.com/office/drawing/2014/main" id="{60D16506-9B96-6BB0-E794-A2E16F713BD3}"/>
              </a:ext>
            </a:extLst>
          </p:cNvPr>
          <p:cNvPicPr>
            <a:picLocks noChangeAspect="1"/>
          </p:cNvPicPr>
          <p:nvPr/>
        </p:nvPicPr>
        <p:blipFill>
          <a:blip r:embed="rId5">
            <a:extLst>
              <a:ext uri="{28A0092B-C50C-407E-A947-70E740481C1C}">
                <a14:useLocalDpi xmlns:a14="http://schemas.microsoft.com/office/drawing/2010/main" val="0"/>
              </a:ext>
            </a:extLst>
          </a:blip>
          <a:srcRect t="6296" b="1111"/>
          <a:stretch>
            <a:fillRect/>
          </a:stretch>
        </p:blipFill>
        <p:spPr>
          <a:xfrm>
            <a:off x="6419405" y="1376043"/>
            <a:ext cx="4280658" cy="8807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a:extLst>
              <a:ext uri="{FF2B5EF4-FFF2-40B4-BE49-F238E27FC236}">
                <a16:creationId xmlns:a16="http://schemas.microsoft.com/office/drawing/2014/main" id="{C6BE1A46-7283-20A2-1384-7FE29AB89038}"/>
              </a:ext>
            </a:extLst>
          </p:cNvPr>
          <p:cNvPicPr>
            <a:picLocks noChangeAspect="1"/>
          </p:cNvPicPr>
          <p:nvPr/>
        </p:nvPicPr>
        <p:blipFill>
          <a:blip r:embed="rId6">
            <a:extLst>
              <a:ext uri="{28A0092B-C50C-407E-A947-70E740481C1C}">
                <a14:useLocalDpi xmlns:a14="http://schemas.microsoft.com/office/drawing/2010/main" val="0"/>
              </a:ext>
            </a:extLst>
          </a:blip>
          <a:srcRect t="16871" b="4053"/>
          <a:stretch>
            <a:fillRect/>
          </a:stretch>
        </p:blipFill>
        <p:spPr>
          <a:xfrm>
            <a:off x="11231530" y="1316928"/>
            <a:ext cx="5059434" cy="87918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9051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1960</Words>
  <Application>Microsoft Office PowerPoint</Application>
  <PresentationFormat>Custom</PresentationFormat>
  <Paragraphs>294</Paragraphs>
  <Slides>20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 MT Pro Bold</vt:lpstr>
      <vt:lpstr>Arial</vt:lpstr>
      <vt:lpstr>Calibri (MS) Bold</vt:lpstr>
      <vt:lpstr>Calibri (MS)</vt:lpstr>
      <vt:lpstr>Times New Roman</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CSA2345 KEERTHI ESWAR V</dc:title>
  <dc:creator>anand1</dc:creator>
  <cp:lastModifiedBy>vishvanathan balamurugan</cp:lastModifiedBy>
  <cp:revision>9</cp:revision>
  <dcterms:created xsi:type="dcterms:W3CDTF">2006-08-16T00:00:00Z</dcterms:created>
  <dcterms:modified xsi:type="dcterms:W3CDTF">2026-05-10T10:55:43Z</dcterms:modified>
  <dc:identifier>DAGg3lcS1RI</dc:identifier>
</cp:coreProperties>
</file>